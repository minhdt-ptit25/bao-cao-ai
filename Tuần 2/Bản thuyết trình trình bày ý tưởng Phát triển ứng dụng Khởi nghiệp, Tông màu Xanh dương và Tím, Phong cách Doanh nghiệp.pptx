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Muli" panose="020B0604020202020204" charset="0"/>
      <p:regular r:id="rId24"/>
    </p:embeddedFont>
    <p:embeddedFont>
      <p:font typeface="Muli Bold" panose="020B0604020202020204" charset="0"/>
      <p:regular r:id="rId25"/>
    </p:embeddedFont>
    <p:embeddedFont>
      <p:font typeface="Muli Light" panose="020B0604020202020204" charset="0"/>
      <p:regular r:id="rId26"/>
    </p:embeddedFont>
    <p:embeddedFont>
      <p:font typeface="Muli Semi-Bold" panose="020B0604020202020204" charset="0"/>
      <p:regular r:id="rId27"/>
    </p:embeddedFont>
    <p:embeddedFont>
      <p:font typeface="Muli Ultra-Bold"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9" d="100"/>
          <a:sy n="59" d="100"/>
        </p:scale>
        <p:origin x="34"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6.svg"/><Relationship Id="rId7" Type="http://schemas.openxmlformats.org/officeDocument/2006/relationships/image" Target="../media/image1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svg"/></Relationships>
</file>

<file path=ppt/slides/_rels/slide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0.sv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7.xml"/><Relationship Id="rId4" Type="http://schemas.openxmlformats.org/officeDocument/2006/relationships/image" Target="../media/image25.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svg"/></Relationships>
</file>

<file path=ppt/slides/_rels/slide17.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42.sv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506841" y="-144637"/>
            <a:ext cx="10786223" cy="10576274"/>
            <a:chOff x="0" y="0"/>
            <a:chExt cx="14381630" cy="14101698"/>
          </a:xfrm>
        </p:grpSpPr>
        <p:sp>
          <p:nvSpPr>
            <p:cNvPr id="3" name="Freeform 3"/>
            <p:cNvSpPr/>
            <p:nvPr/>
          </p:nvSpPr>
          <p:spPr>
            <a:xfrm>
              <a:off x="0" y="7042815"/>
              <a:ext cx="12363028" cy="7058883"/>
            </a:xfrm>
            <a:custGeom>
              <a:avLst/>
              <a:gdLst/>
              <a:ahLst/>
              <a:cxnLst/>
              <a:rect l="l" t="t" r="r" b="b"/>
              <a:pathLst>
                <a:path w="12363028" h="7058883">
                  <a:moveTo>
                    <a:pt x="0" y="0"/>
                  </a:moveTo>
                  <a:lnTo>
                    <a:pt x="12363028" y="0"/>
                  </a:lnTo>
                  <a:lnTo>
                    <a:pt x="12363028" y="7058883"/>
                  </a:lnTo>
                  <a:lnTo>
                    <a:pt x="0" y="7058883"/>
                  </a:lnTo>
                  <a:lnTo>
                    <a:pt x="0" y="0"/>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en-US"/>
            </a:p>
          </p:txBody>
        </p:sp>
        <p:sp>
          <p:nvSpPr>
            <p:cNvPr id="4" name="Freeform 4"/>
            <p:cNvSpPr/>
            <p:nvPr/>
          </p:nvSpPr>
          <p:spPr>
            <a:xfrm>
              <a:off x="2018602" y="0"/>
              <a:ext cx="12363028" cy="7058883"/>
            </a:xfrm>
            <a:custGeom>
              <a:avLst/>
              <a:gdLst/>
              <a:ahLst/>
              <a:cxnLst/>
              <a:rect l="l" t="t" r="r" b="b"/>
              <a:pathLst>
                <a:path w="12363028" h="7058883">
                  <a:moveTo>
                    <a:pt x="0" y="0"/>
                  </a:moveTo>
                  <a:lnTo>
                    <a:pt x="12363028" y="0"/>
                  </a:lnTo>
                  <a:lnTo>
                    <a:pt x="12363028" y="7058883"/>
                  </a:lnTo>
                  <a:lnTo>
                    <a:pt x="0" y="7058883"/>
                  </a:lnTo>
                  <a:lnTo>
                    <a:pt x="0" y="0"/>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en-US"/>
            </a:p>
          </p:txBody>
        </p:sp>
      </p:grpSp>
      <p:sp>
        <p:nvSpPr>
          <p:cNvPr id="5" name="AutoShape 5"/>
          <p:cNvSpPr/>
          <p:nvPr/>
        </p:nvSpPr>
        <p:spPr>
          <a:xfrm flipH="1">
            <a:off x="1028700" y="5005360"/>
            <a:ext cx="10211441" cy="0"/>
          </a:xfrm>
          <a:prstGeom prst="line">
            <a:avLst/>
          </a:prstGeom>
          <a:ln w="28575" cap="rnd">
            <a:solidFill>
              <a:srgbClr val="86C7ED"/>
            </a:solidFill>
            <a:prstDash val="solid"/>
            <a:headEnd type="none" w="sm" len="sm"/>
            <a:tailEnd type="none" w="sm" len="sm"/>
          </a:ln>
        </p:spPr>
        <p:txBody>
          <a:bodyPr/>
          <a:lstStyle/>
          <a:p>
            <a:endParaRPr lang="en-US"/>
          </a:p>
        </p:txBody>
      </p:sp>
      <p:grpSp>
        <p:nvGrpSpPr>
          <p:cNvPr id="6" name="Group 6"/>
          <p:cNvGrpSpPr/>
          <p:nvPr/>
        </p:nvGrpSpPr>
        <p:grpSpPr>
          <a:xfrm>
            <a:off x="-9401127" y="8681862"/>
            <a:ext cx="15741700" cy="3210276"/>
            <a:chOff x="0" y="0"/>
            <a:chExt cx="26342280" cy="5372100"/>
          </a:xfrm>
        </p:grpSpPr>
        <p:sp>
          <p:nvSpPr>
            <p:cNvPr id="7" name="Freeform 7"/>
            <p:cNvSpPr/>
            <p:nvPr/>
          </p:nvSpPr>
          <p:spPr>
            <a:xfrm>
              <a:off x="0" y="0"/>
              <a:ext cx="26342280" cy="5372100"/>
            </a:xfrm>
            <a:custGeom>
              <a:avLst/>
              <a:gdLst/>
              <a:ahLst/>
              <a:cxnLst/>
              <a:rect l="l" t="t" r="r" b="b"/>
              <a:pathLst>
                <a:path w="26342280" h="5372100">
                  <a:moveTo>
                    <a:pt x="24791611" y="0"/>
                  </a:moveTo>
                  <a:lnTo>
                    <a:pt x="1550670" y="0"/>
                  </a:lnTo>
                  <a:lnTo>
                    <a:pt x="0" y="2686050"/>
                  </a:lnTo>
                  <a:lnTo>
                    <a:pt x="1550670" y="5372100"/>
                  </a:lnTo>
                  <a:lnTo>
                    <a:pt x="24791611" y="5372100"/>
                  </a:lnTo>
                  <a:lnTo>
                    <a:pt x="26342280" y="2686050"/>
                  </a:lnTo>
                  <a:lnTo>
                    <a:pt x="24791611" y="0"/>
                  </a:lnTo>
                  <a:close/>
                </a:path>
              </a:pathLst>
            </a:custGeom>
            <a:solidFill>
              <a:srgbClr val="A066CB"/>
            </a:solidFill>
          </p:spPr>
          <p:txBody>
            <a:bodyPr/>
            <a:lstStyle/>
            <a:p>
              <a:endParaRPr lang="en-US"/>
            </a:p>
          </p:txBody>
        </p:sp>
      </p:grpSp>
      <p:sp>
        <p:nvSpPr>
          <p:cNvPr id="8" name="Freeform 8"/>
          <p:cNvSpPr/>
          <p:nvPr/>
        </p:nvSpPr>
        <p:spPr>
          <a:xfrm>
            <a:off x="1028700" y="9198718"/>
            <a:ext cx="1000805" cy="571427"/>
          </a:xfrm>
          <a:custGeom>
            <a:avLst/>
            <a:gdLst/>
            <a:ahLst/>
            <a:cxnLst/>
            <a:rect l="l" t="t" r="r" b="b"/>
            <a:pathLst>
              <a:path w="1000805" h="571427">
                <a:moveTo>
                  <a:pt x="0" y="0"/>
                </a:moveTo>
                <a:lnTo>
                  <a:pt x="1000805" y="0"/>
                </a:lnTo>
                <a:lnTo>
                  <a:pt x="1000805" y="571427"/>
                </a:lnTo>
                <a:lnTo>
                  <a:pt x="0" y="571427"/>
                </a:lnTo>
                <a:lnTo>
                  <a:pt x="0" y="0"/>
                </a:lnTo>
                <a:close/>
              </a:path>
            </a:pathLst>
          </a:custGeom>
          <a:blipFill>
            <a:blip r:embed="rId4">
              <a:extLst>
                <a:ext uri="{96DAC541-7B7A-43D3-8B79-37D633B846F1}">
                  <asvg:svgBlip xmlns:asvg="http://schemas.microsoft.com/office/drawing/2016/SVG/main" r:embed="rId5"/>
                </a:ext>
              </a:extLst>
            </a:blip>
            <a:stretch>
              <a:fillRect t="-51576"/>
            </a:stretch>
          </a:blipFill>
        </p:spPr>
        <p:txBody>
          <a:bodyPr/>
          <a:lstStyle/>
          <a:p>
            <a:endParaRPr lang="en-US"/>
          </a:p>
        </p:txBody>
      </p:sp>
      <p:sp>
        <p:nvSpPr>
          <p:cNvPr id="9" name="TextBox 9"/>
          <p:cNvSpPr txBox="1"/>
          <p:nvPr/>
        </p:nvSpPr>
        <p:spPr>
          <a:xfrm>
            <a:off x="1028700" y="893880"/>
            <a:ext cx="12676166" cy="2687575"/>
          </a:xfrm>
          <a:prstGeom prst="rect">
            <a:avLst/>
          </a:prstGeom>
        </p:spPr>
        <p:txBody>
          <a:bodyPr lIns="0" tIns="0" rIns="0" bIns="0" rtlCol="0" anchor="t">
            <a:spAutoFit/>
          </a:bodyPr>
          <a:lstStyle/>
          <a:p>
            <a:pPr algn="l">
              <a:lnSpc>
                <a:spcPts val="10667"/>
              </a:lnSpc>
            </a:pPr>
            <a:r>
              <a:rPr lang="en-US" sz="8399" b="1" spc="251">
                <a:solidFill>
                  <a:srgbClr val="1836B2"/>
                </a:solidFill>
                <a:latin typeface="Muli Bold"/>
                <a:ea typeface="Muli Bold"/>
                <a:cs typeface="Muli Bold"/>
                <a:sym typeface="Muli Bold"/>
              </a:rPr>
              <a:t>BÁO CÁO </a:t>
            </a:r>
          </a:p>
          <a:p>
            <a:pPr algn="l">
              <a:lnSpc>
                <a:spcPts val="10667"/>
              </a:lnSpc>
            </a:pPr>
            <a:r>
              <a:rPr lang="en-US" sz="8399" b="1" spc="251">
                <a:solidFill>
                  <a:srgbClr val="1836B2"/>
                </a:solidFill>
                <a:latin typeface="Muli Bold"/>
                <a:ea typeface="Muli Bold"/>
                <a:cs typeface="Muli Bold"/>
                <a:sym typeface="Muli Bold"/>
              </a:rPr>
              <a:t>TUẦN 2</a:t>
            </a:r>
          </a:p>
        </p:txBody>
      </p:sp>
      <p:sp>
        <p:nvSpPr>
          <p:cNvPr id="10" name="TextBox 10"/>
          <p:cNvSpPr txBox="1"/>
          <p:nvPr/>
        </p:nvSpPr>
        <p:spPr>
          <a:xfrm>
            <a:off x="1028700" y="4019523"/>
            <a:ext cx="12219339" cy="533400"/>
          </a:xfrm>
          <a:prstGeom prst="rect">
            <a:avLst/>
          </a:prstGeom>
        </p:spPr>
        <p:txBody>
          <a:bodyPr lIns="0" tIns="0" rIns="0" bIns="0" rtlCol="0" anchor="t">
            <a:spAutoFit/>
          </a:bodyPr>
          <a:lstStyle/>
          <a:p>
            <a:pPr algn="l">
              <a:lnSpc>
                <a:spcPts val="4200"/>
              </a:lnSpc>
            </a:pPr>
            <a:r>
              <a:rPr lang="en-US" sz="3500" b="1" spc="105">
                <a:solidFill>
                  <a:srgbClr val="A066CB"/>
                </a:solidFill>
                <a:latin typeface="Muli Bold"/>
                <a:ea typeface="Muli Bold"/>
                <a:cs typeface="Muli Bold"/>
                <a:sym typeface="Muli Bold"/>
              </a:rPr>
              <a:t>Đinh Tuấn Minh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160800" y="1188635"/>
            <a:ext cx="1098500" cy="627207"/>
          </a:xfrm>
          <a:custGeom>
            <a:avLst/>
            <a:gdLst/>
            <a:ahLst/>
            <a:cxnLst/>
            <a:rect l="l" t="t" r="r" b="b"/>
            <a:pathLst>
              <a:path w="1098500" h="627207">
                <a:moveTo>
                  <a:pt x="0" y="0"/>
                </a:moveTo>
                <a:lnTo>
                  <a:pt x="1098500" y="0"/>
                </a:lnTo>
                <a:lnTo>
                  <a:pt x="1098500" y="627208"/>
                </a:lnTo>
                <a:lnTo>
                  <a:pt x="0" y="627208"/>
                </a:lnTo>
                <a:lnTo>
                  <a:pt x="0" y="0"/>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en-US"/>
          </a:p>
        </p:txBody>
      </p:sp>
      <p:sp>
        <p:nvSpPr>
          <p:cNvPr id="3" name="Freeform 3"/>
          <p:cNvSpPr/>
          <p:nvPr/>
        </p:nvSpPr>
        <p:spPr>
          <a:xfrm>
            <a:off x="2519503" y="5758506"/>
            <a:ext cx="5563396" cy="3080730"/>
          </a:xfrm>
          <a:custGeom>
            <a:avLst/>
            <a:gdLst/>
            <a:ahLst/>
            <a:cxnLst/>
            <a:rect l="l" t="t" r="r" b="b"/>
            <a:pathLst>
              <a:path w="5563396" h="3080730">
                <a:moveTo>
                  <a:pt x="0" y="0"/>
                </a:moveTo>
                <a:lnTo>
                  <a:pt x="5563395" y="0"/>
                </a:lnTo>
                <a:lnTo>
                  <a:pt x="5563395" y="3080730"/>
                </a:lnTo>
                <a:lnTo>
                  <a:pt x="0" y="3080730"/>
                </a:lnTo>
                <a:lnTo>
                  <a:pt x="0" y="0"/>
                </a:lnTo>
                <a:close/>
              </a:path>
            </a:pathLst>
          </a:custGeom>
          <a:blipFill>
            <a:blip r:embed="rId4"/>
            <a:stretch>
              <a:fillRect/>
            </a:stretch>
          </a:blipFill>
        </p:spPr>
        <p:txBody>
          <a:bodyPr/>
          <a:lstStyle/>
          <a:p>
            <a:endParaRPr lang="en-US"/>
          </a:p>
        </p:txBody>
      </p:sp>
      <p:sp>
        <p:nvSpPr>
          <p:cNvPr id="4" name="Freeform 4"/>
          <p:cNvSpPr/>
          <p:nvPr/>
        </p:nvSpPr>
        <p:spPr>
          <a:xfrm>
            <a:off x="9297016" y="5758506"/>
            <a:ext cx="5563396" cy="3122456"/>
          </a:xfrm>
          <a:custGeom>
            <a:avLst/>
            <a:gdLst/>
            <a:ahLst/>
            <a:cxnLst/>
            <a:rect l="l" t="t" r="r" b="b"/>
            <a:pathLst>
              <a:path w="5563396" h="3122456">
                <a:moveTo>
                  <a:pt x="0" y="0"/>
                </a:moveTo>
                <a:lnTo>
                  <a:pt x="5563396" y="0"/>
                </a:lnTo>
                <a:lnTo>
                  <a:pt x="5563396" y="3122456"/>
                </a:lnTo>
                <a:lnTo>
                  <a:pt x="0" y="3122456"/>
                </a:lnTo>
                <a:lnTo>
                  <a:pt x="0" y="0"/>
                </a:lnTo>
                <a:close/>
              </a:path>
            </a:pathLst>
          </a:custGeom>
          <a:blipFill>
            <a:blip r:embed="rId5"/>
            <a:stretch>
              <a:fillRect/>
            </a:stretch>
          </a:blipFill>
        </p:spPr>
        <p:txBody>
          <a:bodyPr/>
          <a:lstStyle/>
          <a:p>
            <a:endParaRPr lang="en-US"/>
          </a:p>
        </p:txBody>
      </p:sp>
      <p:sp>
        <p:nvSpPr>
          <p:cNvPr id="5" name="TextBox 5"/>
          <p:cNvSpPr txBox="1"/>
          <p:nvPr/>
        </p:nvSpPr>
        <p:spPr>
          <a:xfrm>
            <a:off x="4386766" y="3587817"/>
            <a:ext cx="3629457" cy="1276350"/>
          </a:xfrm>
          <a:prstGeom prst="rect">
            <a:avLst/>
          </a:prstGeom>
        </p:spPr>
        <p:txBody>
          <a:bodyPr lIns="0" tIns="0" rIns="0" bIns="0" rtlCol="0" anchor="t">
            <a:spAutoFit/>
          </a:bodyPr>
          <a:lstStyle/>
          <a:p>
            <a:pPr algn="l">
              <a:lnSpc>
                <a:spcPts val="5039"/>
              </a:lnSpc>
            </a:pPr>
            <a:r>
              <a:rPr lang="en-US" sz="4199" b="1" spc="125">
                <a:solidFill>
                  <a:srgbClr val="1836B2"/>
                </a:solidFill>
                <a:latin typeface="Muli Ultra-Bold"/>
                <a:ea typeface="Muli Ultra-Bold"/>
                <a:cs typeface="Muli Ultra-Bold"/>
                <a:sym typeface="Muli Ultra-Bold"/>
              </a:rPr>
              <a:t>1.Supervised learning</a:t>
            </a:r>
          </a:p>
        </p:txBody>
      </p:sp>
      <p:sp>
        <p:nvSpPr>
          <p:cNvPr id="6" name="TextBox 6"/>
          <p:cNvSpPr txBox="1"/>
          <p:nvPr/>
        </p:nvSpPr>
        <p:spPr>
          <a:xfrm>
            <a:off x="1392073" y="1367598"/>
            <a:ext cx="11132246" cy="1192530"/>
          </a:xfrm>
          <a:prstGeom prst="rect">
            <a:avLst/>
          </a:prstGeom>
        </p:spPr>
        <p:txBody>
          <a:bodyPr lIns="0" tIns="0" rIns="0" bIns="0" rtlCol="0" anchor="t">
            <a:spAutoFit/>
          </a:bodyPr>
          <a:lstStyle/>
          <a:p>
            <a:pPr algn="l">
              <a:lnSpc>
                <a:spcPts val="9240"/>
              </a:lnSpc>
            </a:pPr>
            <a:r>
              <a:rPr lang="en-US" sz="8400" b="1">
                <a:solidFill>
                  <a:srgbClr val="1836B2"/>
                </a:solidFill>
                <a:latin typeface="Muli Bold"/>
                <a:ea typeface="Muli Bold"/>
                <a:cs typeface="Muli Bold"/>
                <a:sym typeface="Muli Bold"/>
              </a:rPr>
              <a:t>Mục Tiêu</a:t>
            </a:r>
          </a:p>
        </p:txBody>
      </p:sp>
      <p:sp>
        <p:nvSpPr>
          <p:cNvPr id="7" name="TextBox 7"/>
          <p:cNvSpPr txBox="1"/>
          <p:nvPr/>
        </p:nvSpPr>
        <p:spPr>
          <a:xfrm>
            <a:off x="10138427" y="3587817"/>
            <a:ext cx="4028522" cy="1276350"/>
          </a:xfrm>
          <a:prstGeom prst="rect">
            <a:avLst/>
          </a:prstGeom>
        </p:spPr>
        <p:txBody>
          <a:bodyPr lIns="0" tIns="0" rIns="0" bIns="0" rtlCol="0" anchor="t">
            <a:spAutoFit/>
          </a:bodyPr>
          <a:lstStyle/>
          <a:p>
            <a:pPr algn="l">
              <a:lnSpc>
                <a:spcPts val="5039"/>
              </a:lnSpc>
            </a:pPr>
            <a:r>
              <a:rPr lang="en-US" sz="4199" b="1" spc="125">
                <a:solidFill>
                  <a:srgbClr val="1836B2"/>
                </a:solidFill>
                <a:latin typeface="Muli Ultra-Bold"/>
                <a:ea typeface="Muli Ultra-Bold"/>
                <a:cs typeface="Muli Ultra-Bold"/>
                <a:sym typeface="Muli Ultra-Bold"/>
              </a:rPr>
              <a:t>2.Unupervised learning</a:t>
            </a:r>
          </a:p>
        </p:txBody>
      </p:sp>
      <p:sp>
        <p:nvSpPr>
          <p:cNvPr id="8" name="Freeform 8"/>
          <p:cNvSpPr/>
          <p:nvPr/>
        </p:nvSpPr>
        <p:spPr>
          <a:xfrm>
            <a:off x="3471042" y="3772892"/>
            <a:ext cx="696649" cy="696649"/>
          </a:xfrm>
          <a:custGeom>
            <a:avLst/>
            <a:gdLst/>
            <a:ahLst/>
            <a:cxnLst/>
            <a:rect l="l" t="t" r="r" b="b"/>
            <a:pathLst>
              <a:path w="696649" h="696649">
                <a:moveTo>
                  <a:pt x="0" y="0"/>
                </a:moveTo>
                <a:lnTo>
                  <a:pt x="696649" y="0"/>
                </a:lnTo>
                <a:lnTo>
                  <a:pt x="696649" y="696650"/>
                </a:lnTo>
                <a:lnTo>
                  <a:pt x="0" y="6966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Freeform 9"/>
          <p:cNvSpPr/>
          <p:nvPr/>
        </p:nvSpPr>
        <p:spPr>
          <a:xfrm>
            <a:off x="9144000" y="3772892"/>
            <a:ext cx="696649" cy="696649"/>
          </a:xfrm>
          <a:custGeom>
            <a:avLst/>
            <a:gdLst/>
            <a:ahLst/>
            <a:cxnLst/>
            <a:rect l="l" t="t" r="r" b="b"/>
            <a:pathLst>
              <a:path w="696649" h="696649">
                <a:moveTo>
                  <a:pt x="0" y="0"/>
                </a:moveTo>
                <a:lnTo>
                  <a:pt x="696649" y="0"/>
                </a:lnTo>
                <a:lnTo>
                  <a:pt x="696649" y="696650"/>
                </a:lnTo>
                <a:lnTo>
                  <a:pt x="0" y="6966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2073" y="1028700"/>
            <a:ext cx="1098500" cy="627207"/>
          </a:xfrm>
          <a:custGeom>
            <a:avLst/>
            <a:gdLst/>
            <a:ahLst/>
            <a:cxnLst/>
            <a:rect l="l" t="t" r="r" b="b"/>
            <a:pathLst>
              <a:path w="1098500" h="627207">
                <a:moveTo>
                  <a:pt x="0" y="0"/>
                </a:moveTo>
                <a:lnTo>
                  <a:pt x="1098500" y="0"/>
                </a:lnTo>
                <a:lnTo>
                  <a:pt x="1098500" y="627207"/>
                </a:lnTo>
                <a:lnTo>
                  <a:pt x="0" y="627207"/>
                </a:lnTo>
                <a:lnTo>
                  <a:pt x="0" y="0"/>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en-US"/>
          </a:p>
        </p:txBody>
      </p:sp>
      <p:sp>
        <p:nvSpPr>
          <p:cNvPr id="3" name="Freeform 3"/>
          <p:cNvSpPr/>
          <p:nvPr/>
        </p:nvSpPr>
        <p:spPr>
          <a:xfrm>
            <a:off x="8292422" y="6572971"/>
            <a:ext cx="732406" cy="665824"/>
          </a:xfrm>
          <a:custGeom>
            <a:avLst/>
            <a:gdLst/>
            <a:ahLst/>
            <a:cxnLst/>
            <a:rect l="l" t="t" r="r" b="b"/>
            <a:pathLst>
              <a:path w="732406" h="665824">
                <a:moveTo>
                  <a:pt x="0" y="0"/>
                </a:moveTo>
                <a:lnTo>
                  <a:pt x="732407" y="0"/>
                </a:lnTo>
                <a:lnTo>
                  <a:pt x="732407" y="665824"/>
                </a:lnTo>
                <a:lnTo>
                  <a:pt x="0" y="66582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8325713" y="2040103"/>
            <a:ext cx="665824" cy="665824"/>
          </a:xfrm>
          <a:custGeom>
            <a:avLst/>
            <a:gdLst/>
            <a:ahLst/>
            <a:cxnLst/>
            <a:rect l="l" t="t" r="r" b="b"/>
            <a:pathLst>
              <a:path w="665824" h="665824">
                <a:moveTo>
                  <a:pt x="0" y="0"/>
                </a:moveTo>
                <a:lnTo>
                  <a:pt x="665824" y="0"/>
                </a:lnTo>
                <a:lnTo>
                  <a:pt x="665824" y="665824"/>
                </a:lnTo>
                <a:lnTo>
                  <a:pt x="0" y="66582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a:off x="8317865" y="4238625"/>
            <a:ext cx="681521" cy="681521"/>
          </a:xfrm>
          <a:custGeom>
            <a:avLst/>
            <a:gdLst/>
            <a:ahLst/>
            <a:cxnLst/>
            <a:rect l="l" t="t" r="r" b="b"/>
            <a:pathLst>
              <a:path w="681521" h="681521">
                <a:moveTo>
                  <a:pt x="0" y="0"/>
                </a:moveTo>
                <a:lnTo>
                  <a:pt x="681521" y="0"/>
                </a:lnTo>
                <a:lnTo>
                  <a:pt x="681521" y="681521"/>
                </a:lnTo>
                <a:lnTo>
                  <a:pt x="0" y="68152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6" name="Freeform 6"/>
          <p:cNvSpPr/>
          <p:nvPr/>
        </p:nvSpPr>
        <p:spPr>
          <a:xfrm>
            <a:off x="1643664" y="5113187"/>
            <a:ext cx="5213516" cy="2919569"/>
          </a:xfrm>
          <a:custGeom>
            <a:avLst/>
            <a:gdLst/>
            <a:ahLst/>
            <a:cxnLst/>
            <a:rect l="l" t="t" r="r" b="b"/>
            <a:pathLst>
              <a:path w="5213516" h="2919569">
                <a:moveTo>
                  <a:pt x="0" y="0"/>
                </a:moveTo>
                <a:lnTo>
                  <a:pt x="5213516" y="0"/>
                </a:lnTo>
                <a:lnTo>
                  <a:pt x="5213516" y="2919569"/>
                </a:lnTo>
                <a:lnTo>
                  <a:pt x="0" y="2919569"/>
                </a:lnTo>
                <a:lnTo>
                  <a:pt x="0" y="0"/>
                </a:lnTo>
                <a:close/>
              </a:path>
            </a:pathLst>
          </a:custGeom>
          <a:blipFill>
            <a:blip r:embed="rId10"/>
            <a:stretch>
              <a:fillRect/>
            </a:stretch>
          </a:blipFill>
        </p:spPr>
        <p:txBody>
          <a:bodyPr/>
          <a:lstStyle/>
          <a:p>
            <a:endParaRPr lang="en-US"/>
          </a:p>
        </p:txBody>
      </p:sp>
      <p:sp>
        <p:nvSpPr>
          <p:cNvPr id="7" name="TextBox 7"/>
          <p:cNvSpPr txBox="1"/>
          <p:nvPr/>
        </p:nvSpPr>
        <p:spPr>
          <a:xfrm>
            <a:off x="9694973" y="2040103"/>
            <a:ext cx="6979141" cy="533400"/>
          </a:xfrm>
          <a:prstGeom prst="rect">
            <a:avLst/>
          </a:prstGeom>
        </p:spPr>
        <p:txBody>
          <a:bodyPr lIns="0" tIns="0" rIns="0" bIns="0" rtlCol="0" anchor="t">
            <a:spAutoFit/>
          </a:bodyPr>
          <a:lstStyle/>
          <a:p>
            <a:pPr algn="l">
              <a:lnSpc>
                <a:spcPts val="4200"/>
              </a:lnSpc>
            </a:pPr>
            <a:r>
              <a:rPr lang="en-US" sz="3500" b="1" spc="105">
                <a:solidFill>
                  <a:srgbClr val="1836B2"/>
                </a:solidFill>
                <a:latin typeface="Muli Ultra-Bold"/>
                <a:ea typeface="Muli Ultra-Bold"/>
                <a:cs typeface="Muli Ultra-Bold"/>
                <a:sym typeface="Muli Ultra-Bold"/>
              </a:rPr>
              <a:t>Định nghĩa </a:t>
            </a:r>
          </a:p>
        </p:txBody>
      </p:sp>
      <p:sp>
        <p:nvSpPr>
          <p:cNvPr id="8" name="TextBox 8"/>
          <p:cNvSpPr txBox="1"/>
          <p:nvPr/>
        </p:nvSpPr>
        <p:spPr>
          <a:xfrm>
            <a:off x="9694973" y="4238625"/>
            <a:ext cx="5235081" cy="1600200"/>
          </a:xfrm>
          <a:prstGeom prst="rect">
            <a:avLst/>
          </a:prstGeom>
        </p:spPr>
        <p:txBody>
          <a:bodyPr lIns="0" tIns="0" rIns="0" bIns="0" rtlCol="0" anchor="t">
            <a:spAutoFit/>
          </a:bodyPr>
          <a:lstStyle/>
          <a:p>
            <a:pPr algn="l">
              <a:lnSpc>
                <a:spcPts val="4200"/>
              </a:lnSpc>
            </a:pPr>
            <a:r>
              <a:rPr lang="en-US" sz="3500" b="1" spc="105">
                <a:solidFill>
                  <a:srgbClr val="1836B2"/>
                </a:solidFill>
                <a:latin typeface="Muli Ultra-Bold"/>
                <a:ea typeface="Muli Ultra-Bold"/>
                <a:cs typeface="Muli Ultra-Bold"/>
                <a:sym typeface="Muli Ultra-Bold"/>
              </a:rPr>
              <a:t>Mục tiêu và quy trình tổng quát</a:t>
            </a:r>
          </a:p>
          <a:p>
            <a:pPr algn="l">
              <a:lnSpc>
                <a:spcPts val="4200"/>
              </a:lnSpc>
            </a:pPr>
            <a:endParaRPr lang="en-US" sz="3500" b="1" spc="105">
              <a:solidFill>
                <a:srgbClr val="1836B2"/>
              </a:solidFill>
              <a:latin typeface="Muli Ultra-Bold"/>
              <a:ea typeface="Muli Ultra-Bold"/>
              <a:cs typeface="Muli Ultra-Bold"/>
              <a:sym typeface="Muli Ultra-Bold"/>
            </a:endParaRPr>
          </a:p>
        </p:txBody>
      </p:sp>
      <p:sp>
        <p:nvSpPr>
          <p:cNvPr id="9" name="TextBox 9"/>
          <p:cNvSpPr txBox="1"/>
          <p:nvPr/>
        </p:nvSpPr>
        <p:spPr>
          <a:xfrm>
            <a:off x="9694973" y="6572971"/>
            <a:ext cx="6136672" cy="1066800"/>
          </a:xfrm>
          <a:prstGeom prst="rect">
            <a:avLst/>
          </a:prstGeom>
        </p:spPr>
        <p:txBody>
          <a:bodyPr lIns="0" tIns="0" rIns="0" bIns="0" rtlCol="0" anchor="t">
            <a:spAutoFit/>
          </a:bodyPr>
          <a:lstStyle/>
          <a:p>
            <a:pPr algn="l">
              <a:lnSpc>
                <a:spcPts val="4200"/>
              </a:lnSpc>
            </a:pPr>
            <a:r>
              <a:rPr lang="en-US" sz="3500" b="1" spc="105">
                <a:solidFill>
                  <a:srgbClr val="1836B2"/>
                </a:solidFill>
                <a:latin typeface="Muli Ultra-Bold"/>
                <a:ea typeface="Muli Ultra-Bold"/>
                <a:cs typeface="Muli Ultra-Bold"/>
                <a:sym typeface="Muli Ultra-Bold"/>
              </a:rPr>
              <a:t>Phân biệt Classification và Regression</a:t>
            </a:r>
          </a:p>
        </p:txBody>
      </p:sp>
      <p:sp>
        <p:nvSpPr>
          <p:cNvPr id="10" name="TextBox 10"/>
          <p:cNvSpPr txBox="1"/>
          <p:nvPr/>
        </p:nvSpPr>
        <p:spPr>
          <a:xfrm>
            <a:off x="1068223" y="2167656"/>
            <a:ext cx="6827475" cy="2364105"/>
          </a:xfrm>
          <a:prstGeom prst="rect">
            <a:avLst/>
          </a:prstGeom>
        </p:spPr>
        <p:txBody>
          <a:bodyPr lIns="0" tIns="0" rIns="0" bIns="0" rtlCol="0" anchor="t">
            <a:spAutoFit/>
          </a:bodyPr>
          <a:lstStyle/>
          <a:p>
            <a:pPr algn="l">
              <a:lnSpc>
                <a:spcPts val="9240"/>
              </a:lnSpc>
            </a:pPr>
            <a:r>
              <a:rPr lang="en-US" sz="8400" b="1">
                <a:solidFill>
                  <a:srgbClr val="1836B2"/>
                </a:solidFill>
                <a:latin typeface="Muli Bold"/>
                <a:ea typeface="Muli Bold"/>
                <a:cs typeface="Muli Bold"/>
                <a:sym typeface="Muli Bold"/>
              </a:rPr>
              <a:t>1.Supervised learning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A066CB"/>
        </a:solidFill>
        <a:effectLst/>
      </p:bgPr>
    </p:bg>
    <p:spTree>
      <p:nvGrpSpPr>
        <p:cNvPr id="1" name=""/>
        <p:cNvGrpSpPr/>
        <p:nvPr/>
      </p:nvGrpSpPr>
      <p:grpSpPr>
        <a:xfrm>
          <a:off x="0" y="0"/>
          <a:ext cx="0" cy="0"/>
          <a:chOff x="0" y="0"/>
          <a:chExt cx="0" cy="0"/>
        </a:xfrm>
      </p:grpSpPr>
      <p:sp>
        <p:nvSpPr>
          <p:cNvPr id="2" name="AutoShape 2"/>
          <p:cNvSpPr/>
          <p:nvPr/>
        </p:nvSpPr>
        <p:spPr>
          <a:xfrm flipH="1">
            <a:off x="9677837" y="4229228"/>
            <a:ext cx="8610163" cy="0"/>
          </a:xfrm>
          <a:prstGeom prst="line">
            <a:avLst/>
          </a:prstGeom>
          <a:ln w="28575" cap="rnd">
            <a:solidFill>
              <a:srgbClr val="86C7ED"/>
            </a:solidFill>
            <a:prstDash val="solid"/>
            <a:headEnd type="none" w="sm" len="sm"/>
            <a:tailEnd type="none" w="sm" len="sm"/>
          </a:ln>
        </p:spPr>
        <p:txBody>
          <a:bodyPr/>
          <a:lstStyle/>
          <a:p>
            <a:endParaRPr lang="en-US"/>
          </a:p>
        </p:txBody>
      </p:sp>
      <p:sp>
        <p:nvSpPr>
          <p:cNvPr id="3" name="Freeform 3"/>
          <p:cNvSpPr/>
          <p:nvPr/>
        </p:nvSpPr>
        <p:spPr>
          <a:xfrm>
            <a:off x="1028700" y="4229228"/>
            <a:ext cx="7179552" cy="4460025"/>
          </a:xfrm>
          <a:custGeom>
            <a:avLst/>
            <a:gdLst/>
            <a:ahLst/>
            <a:cxnLst/>
            <a:rect l="l" t="t" r="r" b="b"/>
            <a:pathLst>
              <a:path w="7179552" h="4460025">
                <a:moveTo>
                  <a:pt x="0" y="0"/>
                </a:moveTo>
                <a:lnTo>
                  <a:pt x="7179552" y="0"/>
                </a:lnTo>
                <a:lnTo>
                  <a:pt x="7179552" y="4460025"/>
                </a:lnTo>
                <a:lnTo>
                  <a:pt x="0" y="4460025"/>
                </a:lnTo>
                <a:lnTo>
                  <a:pt x="0" y="0"/>
                </a:lnTo>
                <a:close/>
              </a:path>
            </a:pathLst>
          </a:custGeom>
          <a:blipFill>
            <a:blip r:embed="rId2"/>
            <a:stretch>
              <a:fillRect/>
            </a:stretch>
          </a:blipFill>
        </p:spPr>
        <p:txBody>
          <a:bodyPr/>
          <a:lstStyle/>
          <a:p>
            <a:endParaRPr lang="en-US"/>
          </a:p>
        </p:txBody>
      </p:sp>
      <p:sp>
        <p:nvSpPr>
          <p:cNvPr id="4" name="TextBox 4"/>
          <p:cNvSpPr txBox="1"/>
          <p:nvPr/>
        </p:nvSpPr>
        <p:spPr>
          <a:xfrm>
            <a:off x="1138652" y="876300"/>
            <a:ext cx="11985682" cy="2910840"/>
          </a:xfrm>
          <a:prstGeom prst="rect">
            <a:avLst/>
          </a:prstGeom>
        </p:spPr>
        <p:txBody>
          <a:bodyPr lIns="0" tIns="0" rIns="0" bIns="0" rtlCol="0" anchor="t">
            <a:spAutoFit/>
          </a:bodyPr>
          <a:lstStyle/>
          <a:p>
            <a:pPr algn="l">
              <a:lnSpc>
                <a:spcPts val="11760"/>
              </a:lnSpc>
            </a:pPr>
            <a:r>
              <a:rPr lang="en-US" sz="8400" b="1">
                <a:solidFill>
                  <a:srgbClr val="FFFFFF"/>
                </a:solidFill>
                <a:latin typeface="Muli Bold"/>
                <a:ea typeface="Muli Bold"/>
                <a:cs typeface="Muli Bold"/>
                <a:sym typeface="Muli Bold"/>
              </a:rPr>
              <a:t>Định nghĩa</a:t>
            </a:r>
          </a:p>
          <a:p>
            <a:pPr algn="l">
              <a:lnSpc>
                <a:spcPts val="11760"/>
              </a:lnSpc>
            </a:pPr>
            <a:r>
              <a:rPr lang="en-US" sz="8400" b="1">
                <a:solidFill>
                  <a:srgbClr val="FFFFFF"/>
                </a:solidFill>
                <a:latin typeface="Muli Bold"/>
                <a:ea typeface="Muli Bold"/>
                <a:cs typeface="Muli Bold"/>
                <a:sym typeface="Muli Bold"/>
              </a:rPr>
              <a:t>Supervised learning</a:t>
            </a:r>
          </a:p>
        </p:txBody>
      </p:sp>
      <p:sp>
        <p:nvSpPr>
          <p:cNvPr id="5" name="TextBox 5"/>
          <p:cNvSpPr txBox="1"/>
          <p:nvPr/>
        </p:nvSpPr>
        <p:spPr>
          <a:xfrm>
            <a:off x="9677837" y="4408170"/>
            <a:ext cx="6487458" cy="2647950"/>
          </a:xfrm>
          <a:prstGeom prst="rect">
            <a:avLst/>
          </a:prstGeom>
        </p:spPr>
        <p:txBody>
          <a:bodyPr lIns="0" tIns="0" rIns="0" bIns="0" rtlCol="0" anchor="t">
            <a:spAutoFit/>
          </a:bodyPr>
          <a:lstStyle/>
          <a:p>
            <a:pPr algn="l">
              <a:lnSpc>
                <a:spcPts val="4200"/>
              </a:lnSpc>
            </a:pPr>
            <a:r>
              <a:rPr lang="en-US" sz="3000" spc="15">
                <a:solidFill>
                  <a:srgbClr val="FFFFFF"/>
                </a:solidFill>
                <a:latin typeface="Muli Light"/>
                <a:ea typeface="Muli Light"/>
                <a:cs typeface="Muli Light"/>
                <a:sym typeface="Muli Light"/>
              </a:rPr>
              <a:t>Supervised learning (học có giám sát) là phương pháp trong machine learning trong đó mô hình được huấn luyện bằng cách sử dụng các tập dữ liệu được dán nhãn</a:t>
            </a:r>
          </a:p>
        </p:txBody>
      </p:sp>
      <p:sp>
        <p:nvSpPr>
          <p:cNvPr id="6" name="TextBox 6"/>
          <p:cNvSpPr txBox="1"/>
          <p:nvPr/>
        </p:nvSpPr>
        <p:spPr>
          <a:xfrm>
            <a:off x="9677837" y="7427595"/>
            <a:ext cx="6487458" cy="1581150"/>
          </a:xfrm>
          <a:prstGeom prst="rect">
            <a:avLst/>
          </a:prstGeom>
        </p:spPr>
        <p:txBody>
          <a:bodyPr lIns="0" tIns="0" rIns="0" bIns="0" rtlCol="0" anchor="t">
            <a:spAutoFit/>
          </a:bodyPr>
          <a:lstStyle/>
          <a:p>
            <a:pPr algn="l">
              <a:lnSpc>
                <a:spcPts val="4200"/>
              </a:lnSpc>
            </a:pPr>
            <a:r>
              <a:rPr lang="en-US" sz="3000" spc="15">
                <a:solidFill>
                  <a:srgbClr val="FFFFFF"/>
                </a:solidFill>
                <a:latin typeface="Muli Light"/>
                <a:ea typeface="Muli Light"/>
                <a:cs typeface="Muli Light"/>
                <a:sym typeface="Muli Light"/>
              </a:rPr>
              <a:t>Thuật toán học cách nhận diện-&gt; dự đoán chính xác kết quả khi gặp dữ liệu mới trong thực tế</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437920" y="4330916"/>
            <a:ext cx="442745" cy="383458"/>
            <a:chOff x="0" y="0"/>
            <a:chExt cx="6202680" cy="5372100"/>
          </a:xfrm>
        </p:grpSpPr>
        <p:sp>
          <p:nvSpPr>
            <p:cNvPr id="3" name="Freeform 3"/>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txBody>
            <a:bodyPr/>
            <a:lstStyle/>
            <a:p>
              <a:endParaRPr lang="en-US"/>
            </a:p>
          </p:txBody>
        </p:sp>
      </p:grpSp>
      <p:grpSp>
        <p:nvGrpSpPr>
          <p:cNvPr id="4" name="Group 4"/>
          <p:cNvGrpSpPr/>
          <p:nvPr/>
        </p:nvGrpSpPr>
        <p:grpSpPr>
          <a:xfrm rot="-10800000">
            <a:off x="5832565" y="4330916"/>
            <a:ext cx="442745" cy="383458"/>
            <a:chOff x="0" y="0"/>
            <a:chExt cx="6202680" cy="5372100"/>
          </a:xfrm>
        </p:grpSpPr>
        <p:sp>
          <p:nvSpPr>
            <p:cNvPr id="5" name="Freeform 5"/>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txBody>
            <a:bodyPr/>
            <a:lstStyle/>
            <a:p>
              <a:endParaRPr lang="en-US"/>
            </a:p>
          </p:txBody>
        </p:sp>
      </p:grpSp>
      <p:grpSp>
        <p:nvGrpSpPr>
          <p:cNvPr id="6" name="Group 6"/>
          <p:cNvGrpSpPr/>
          <p:nvPr/>
        </p:nvGrpSpPr>
        <p:grpSpPr>
          <a:xfrm rot="-10800000">
            <a:off x="10224144" y="4330916"/>
            <a:ext cx="442745" cy="383458"/>
            <a:chOff x="0" y="0"/>
            <a:chExt cx="6202680" cy="5372100"/>
          </a:xfrm>
        </p:grpSpPr>
        <p:sp>
          <p:nvSpPr>
            <p:cNvPr id="7" name="Freeform 7"/>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txBody>
            <a:bodyPr/>
            <a:lstStyle/>
            <a:p>
              <a:endParaRPr lang="en-US"/>
            </a:p>
          </p:txBody>
        </p:sp>
      </p:grpSp>
      <p:sp>
        <p:nvSpPr>
          <p:cNvPr id="8" name="Freeform 8"/>
          <p:cNvSpPr/>
          <p:nvPr/>
        </p:nvSpPr>
        <p:spPr>
          <a:xfrm>
            <a:off x="16160800" y="1028700"/>
            <a:ext cx="1098500" cy="627207"/>
          </a:xfrm>
          <a:custGeom>
            <a:avLst/>
            <a:gdLst/>
            <a:ahLst/>
            <a:cxnLst/>
            <a:rect l="l" t="t" r="r" b="b"/>
            <a:pathLst>
              <a:path w="1098500" h="627207">
                <a:moveTo>
                  <a:pt x="0" y="0"/>
                </a:moveTo>
                <a:lnTo>
                  <a:pt x="1098500" y="0"/>
                </a:lnTo>
                <a:lnTo>
                  <a:pt x="1098500" y="627207"/>
                </a:lnTo>
                <a:lnTo>
                  <a:pt x="0" y="627207"/>
                </a:lnTo>
                <a:lnTo>
                  <a:pt x="0" y="0"/>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en-US"/>
          </a:p>
        </p:txBody>
      </p:sp>
      <p:sp>
        <p:nvSpPr>
          <p:cNvPr id="9" name="AutoShape 9"/>
          <p:cNvSpPr/>
          <p:nvPr/>
        </p:nvSpPr>
        <p:spPr>
          <a:xfrm>
            <a:off x="6856334" y="4560745"/>
            <a:ext cx="2758210" cy="0"/>
          </a:xfrm>
          <a:prstGeom prst="line">
            <a:avLst/>
          </a:prstGeom>
          <a:ln w="76200" cap="rnd">
            <a:solidFill>
              <a:srgbClr val="86C7ED"/>
            </a:solidFill>
            <a:prstDash val="sysDot"/>
            <a:headEnd type="none" w="sm" len="sm"/>
            <a:tailEnd type="none" w="sm" len="sm"/>
          </a:ln>
        </p:spPr>
        <p:txBody>
          <a:bodyPr/>
          <a:lstStyle/>
          <a:p>
            <a:endParaRPr lang="en-US"/>
          </a:p>
        </p:txBody>
      </p:sp>
      <p:sp>
        <p:nvSpPr>
          <p:cNvPr id="10" name="AutoShape 10"/>
          <p:cNvSpPr/>
          <p:nvPr/>
        </p:nvSpPr>
        <p:spPr>
          <a:xfrm>
            <a:off x="2465246" y="4560745"/>
            <a:ext cx="2758210" cy="0"/>
          </a:xfrm>
          <a:prstGeom prst="line">
            <a:avLst/>
          </a:prstGeom>
          <a:ln w="76200" cap="rnd">
            <a:solidFill>
              <a:srgbClr val="86C7ED"/>
            </a:solidFill>
            <a:prstDash val="sysDot"/>
            <a:headEnd type="none" w="sm" len="sm"/>
            <a:tailEnd type="none" w="sm" len="sm"/>
          </a:ln>
        </p:spPr>
        <p:txBody>
          <a:bodyPr/>
          <a:lstStyle/>
          <a:p>
            <a:endParaRPr lang="en-US"/>
          </a:p>
        </p:txBody>
      </p:sp>
      <p:grpSp>
        <p:nvGrpSpPr>
          <p:cNvPr id="11" name="Group 11"/>
          <p:cNvGrpSpPr/>
          <p:nvPr/>
        </p:nvGrpSpPr>
        <p:grpSpPr>
          <a:xfrm rot="-10800000">
            <a:off x="12768845" y="7968015"/>
            <a:ext cx="442745" cy="383458"/>
            <a:chOff x="0" y="0"/>
            <a:chExt cx="6202680" cy="5372100"/>
          </a:xfrm>
        </p:grpSpPr>
        <p:sp>
          <p:nvSpPr>
            <p:cNvPr id="12" name="Freeform 12"/>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txBody>
            <a:bodyPr/>
            <a:lstStyle/>
            <a:p>
              <a:endParaRPr lang="en-US"/>
            </a:p>
          </p:txBody>
        </p:sp>
      </p:grpSp>
      <p:sp>
        <p:nvSpPr>
          <p:cNvPr id="13" name="AutoShape 13"/>
          <p:cNvSpPr/>
          <p:nvPr/>
        </p:nvSpPr>
        <p:spPr>
          <a:xfrm>
            <a:off x="9422249" y="8145676"/>
            <a:ext cx="2758210" cy="0"/>
          </a:xfrm>
          <a:prstGeom prst="line">
            <a:avLst/>
          </a:prstGeom>
          <a:ln w="76200" cap="rnd">
            <a:solidFill>
              <a:srgbClr val="86C7ED"/>
            </a:solidFill>
            <a:prstDash val="sysDot"/>
            <a:headEnd type="none" w="sm" len="sm"/>
            <a:tailEnd type="none" w="sm" len="sm"/>
          </a:ln>
        </p:spPr>
        <p:txBody>
          <a:bodyPr/>
          <a:lstStyle/>
          <a:p>
            <a:endParaRPr lang="en-US"/>
          </a:p>
        </p:txBody>
      </p:sp>
      <p:grpSp>
        <p:nvGrpSpPr>
          <p:cNvPr id="14" name="Group 14"/>
          <p:cNvGrpSpPr/>
          <p:nvPr/>
        </p:nvGrpSpPr>
        <p:grpSpPr>
          <a:xfrm rot="-10800000">
            <a:off x="14644298" y="4330916"/>
            <a:ext cx="442745" cy="383458"/>
            <a:chOff x="0" y="0"/>
            <a:chExt cx="6202680" cy="5372100"/>
          </a:xfrm>
        </p:grpSpPr>
        <p:sp>
          <p:nvSpPr>
            <p:cNvPr id="15" name="Freeform 15"/>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txBody>
            <a:bodyPr/>
            <a:lstStyle/>
            <a:p>
              <a:endParaRPr lang="en-US"/>
            </a:p>
          </p:txBody>
        </p:sp>
      </p:grpSp>
      <p:sp>
        <p:nvSpPr>
          <p:cNvPr id="16" name="AutoShape 16"/>
          <p:cNvSpPr/>
          <p:nvPr/>
        </p:nvSpPr>
        <p:spPr>
          <a:xfrm>
            <a:off x="11276489" y="4560745"/>
            <a:ext cx="2758210" cy="0"/>
          </a:xfrm>
          <a:prstGeom prst="line">
            <a:avLst/>
          </a:prstGeom>
          <a:ln w="76200" cap="rnd">
            <a:solidFill>
              <a:srgbClr val="86C7ED"/>
            </a:solidFill>
            <a:prstDash val="sysDot"/>
            <a:headEnd type="none" w="sm" len="sm"/>
            <a:tailEnd type="none" w="sm" len="sm"/>
          </a:ln>
        </p:spPr>
        <p:txBody>
          <a:bodyPr/>
          <a:lstStyle/>
          <a:p>
            <a:endParaRPr lang="en-US"/>
          </a:p>
        </p:txBody>
      </p:sp>
      <p:grpSp>
        <p:nvGrpSpPr>
          <p:cNvPr id="17" name="Group 17"/>
          <p:cNvGrpSpPr/>
          <p:nvPr/>
        </p:nvGrpSpPr>
        <p:grpSpPr>
          <a:xfrm rot="-10800000">
            <a:off x="7939753" y="7968015"/>
            <a:ext cx="442745" cy="383458"/>
            <a:chOff x="0" y="0"/>
            <a:chExt cx="6202680" cy="5372100"/>
          </a:xfrm>
        </p:grpSpPr>
        <p:sp>
          <p:nvSpPr>
            <p:cNvPr id="18" name="Freeform 18"/>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txBody>
            <a:bodyPr/>
            <a:lstStyle/>
            <a:p>
              <a:endParaRPr lang="en-US"/>
            </a:p>
          </p:txBody>
        </p:sp>
      </p:grpSp>
      <p:sp>
        <p:nvSpPr>
          <p:cNvPr id="19" name="AutoShape 19"/>
          <p:cNvSpPr/>
          <p:nvPr/>
        </p:nvSpPr>
        <p:spPr>
          <a:xfrm>
            <a:off x="4321122" y="8159744"/>
            <a:ext cx="2758210" cy="0"/>
          </a:xfrm>
          <a:prstGeom prst="line">
            <a:avLst/>
          </a:prstGeom>
          <a:ln w="76200" cap="rnd">
            <a:solidFill>
              <a:srgbClr val="86C7ED"/>
            </a:solidFill>
            <a:prstDash val="sysDot"/>
            <a:headEnd type="none" w="sm" len="sm"/>
            <a:tailEnd type="none" w="sm" len="sm"/>
          </a:ln>
        </p:spPr>
        <p:txBody>
          <a:bodyPr/>
          <a:lstStyle/>
          <a:p>
            <a:endParaRPr lang="en-US"/>
          </a:p>
        </p:txBody>
      </p:sp>
      <p:grpSp>
        <p:nvGrpSpPr>
          <p:cNvPr id="20" name="Group 20"/>
          <p:cNvGrpSpPr/>
          <p:nvPr/>
        </p:nvGrpSpPr>
        <p:grpSpPr>
          <a:xfrm rot="-10800000">
            <a:off x="3017955" y="7968015"/>
            <a:ext cx="442745" cy="383458"/>
            <a:chOff x="0" y="0"/>
            <a:chExt cx="6202680" cy="5372100"/>
          </a:xfrm>
        </p:grpSpPr>
        <p:sp>
          <p:nvSpPr>
            <p:cNvPr id="21" name="Freeform 21"/>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txBody>
            <a:bodyPr/>
            <a:lstStyle/>
            <a:p>
              <a:endParaRPr lang="en-US"/>
            </a:p>
          </p:txBody>
        </p:sp>
      </p:grpSp>
      <p:sp>
        <p:nvSpPr>
          <p:cNvPr id="22" name="AutoShape 22"/>
          <p:cNvSpPr/>
          <p:nvPr/>
        </p:nvSpPr>
        <p:spPr>
          <a:xfrm flipV="1">
            <a:off x="13240078" y="6399325"/>
            <a:ext cx="1083247" cy="1219792"/>
          </a:xfrm>
          <a:prstGeom prst="line">
            <a:avLst/>
          </a:prstGeom>
          <a:ln w="76200" cap="rnd">
            <a:solidFill>
              <a:srgbClr val="86C7ED"/>
            </a:solidFill>
            <a:prstDash val="sysDot"/>
            <a:headEnd type="none" w="sm" len="sm"/>
            <a:tailEnd type="none" w="sm" len="sm"/>
          </a:ln>
        </p:spPr>
        <p:txBody>
          <a:bodyPr/>
          <a:lstStyle/>
          <a:p>
            <a:endParaRPr lang="en-US"/>
          </a:p>
        </p:txBody>
      </p:sp>
      <p:sp>
        <p:nvSpPr>
          <p:cNvPr id="23" name="Freeform 23"/>
          <p:cNvSpPr/>
          <p:nvPr/>
        </p:nvSpPr>
        <p:spPr>
          <a:xfrm>
            <a:off x="-4286530" y="-1513163"/>
            <a:ext cx="9820963" cy="4053379"/>
          </a:xfrm>
          <a:custGeom>
            <a:avLst/>
            <a:gdLst/>
            <a:ahLst/>
            <a:cxnLst/>
            <a:rect l="l" t="t" r="r" b="b"/>
            <a:pathLst>
              <a:path w="9820963" h="4053379">
                <a:moveTo>
                  <a:pt x="0" y="0"/>
                </a:moveTo>
                <a:lnTo>
                  <a:pt x="9820963" y="0"/>
                </a:lnTo>
                <a:lnTo>
                  <a:pt x="9820963" y="4053379"/>
                </a:lnTo>
                <a:lnTo>
                  <a:pt x="0" y="40533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4" name="TextBox 24"/>
          <p:cNvSpPr txBox="1"/>
          <p:nvPr/>
        </p:nvSpPr>
        <p:spPr>
          <a:xfrm>
            <a:off x="1437920" y="866775"/>
            <a:ext cx="11619413" cy="2797172"/>
          </a:xfrm>
          <a:prstGeom prst="rect">
            <a:avLst/>
          </a:prstGeom>
        </p:spPr>
        <p:txBody>
          <a:bodyPr lIns="0" tIns="0" rIns="0" bIns="0" rtlCol="0" anchor="t">
            <a:spAutoFit/>
          </a:bodyPr>
          <a:lstStyle/>
          <a:p>
            <a:pPr algn="l">
              <a:lnSpc>
                <a:spcPts val="11200"/>
              </a:lnSpc>
              <a:spcBef>
                <a:spcPct val="0"/>
              </a:spcBef>
            </a:pPr>
            <a:r>
              <a:rPr lang="en-US" sz="8000" b="1" spc="-160">
                <a:solidFill>
                  <a:srgbClr val="FFFFFF"/>
                </a:solidFill>
                <a:latin typeface="Muli Bold"/>
                <a:ea typeface="Muli Bold"/>
                <a:cs typeface="Muli Bold"/>
                <a:sym typeface="Muli Bold"/>
              </a:rPr>
              <a:t>Mục tiêu</a:t>
            </a:r>
            <a:r>
              <a:rPr lang="en-US" sz="8000" b="1" spc="-160">
                <a:solidFill>
                  <a:srgbClr val="1836B2"/>
                </a:solidFill>
                <a:latin typeface="Muli Bold"/>
                <a:ea typeface="Muli Bold"/>
                <a:cs typeface="Muli Bold"/>
                <a:sym typeface="Muli Bold"/>
              </a:rPr>
              <a:t> và quy trình tổng quát</a:t>
            </a:r>
          </a:p>
        </p:txBody>
      </p:sp>
      <p:sp>
        <p:nvSpPr>
          <p:cNvPr id="25" name="TextBox 25"/>
          <p:cNvSpPr txBox="1"/>
          <p:nvPr/>
        </p:nvSpPr>
        <p:spPr>
          <a:xfrm>
            <a:off x="1437920" y="4912256"/>
            <a:ext cx="2054652" cy="596900"/>
          </a:xfrm>
          <a:prstGeom prst="rect">
            <a:avLst/>
          </a:prstGeom>
        </p:spPr>
        <p:txBody>
          <a:bodyPr lIns="0" tIns="0" rIns="0" bIns="0" rtlCol="0" anchor="t">
            <a:spAutoFit/>
          </a:bodyPr>
          <a:lstStyle/>
          <a:p>
            <a:pPr algn="l">
              <a:lnSpc>
                <a:spcPts val="4900"/>
              </a:lnSpc>
              <a:spcBef>
                <a:spcPct val="0"/>
              </a:spcBef>
            </a:pPr>
            <a:r>
              <a:rPr lang="en-US" sz="3500" b="1" spc="-70">
                <a:solidFill>
                  <a:srgbClr val="1836B2"/>
                </a:solidFill>
                <a:latin typeface="Muli Bold"/>
                <a:ea typeface="Muli Bold"/>
                <a:cs typeface="Muli Bold"/>
                <a:sym typeface="Muli Bold"/>
              </a:rPr>
              <a:t>1.</a:t>
            </a:r>
          </a:p>
        </p:txBody>
      </p:sp>
      <p:sp>
        <p:nvSpPr>
          <p:cNvPr id="26" name="TextBox 26"/>
          <p:cNvSpPr txBox="1"/>
          <p:nvPr/>
        </p:nvSpPr>
        <p:spPr>
          <a:xfrm>
            <a:off x="1437920" y="5530231"/>
            <a:ext cx="3401475" cy="931545"/>
          </a:xfrm>
          <a:prstGeom prst="rect">
            <a:avLst/>
          </a:prstGeom>
        </p:spPr>
        <p:txBody>
          <a:bodyPr lIns="0" tIns="0" rIns="0" bIns="0" rtlCol="0" anchor="t">
            <a:spAutoFit/>
          </a:bodyPr>
          <a:lstStyle/>
          <a:p>
            <a:pPr algn="l">
              <a:lnSpc>
                <a:spcPts val="3779"/>
              </a:lnSpc>
            </a:pPr>
            <a:r>
              <a:rPr lang="en-US" sz="2700" spc="13">
                <a:solidFill>
                  <a:srgbClr val="000000"/>
                </a:solidFill>
                <a:latin typeface="Muli Light"/>
                <a:ea typeface="Muli Light"/>
                <a:cs typeface="Muli Light"/>
                <a:sym typeface="Muli Light"/>
              </a:rPr>
              <a:t>Thu thập + gán nhãn dữ liệu</a:t>
            </a:r>
          </a:p>
        </p:txBody>
      </p:sp>
      <p:sp>
        <p:nvSpPr>
          <p:cNvPr id="27" name="TextBox 27"/>
          <p:cNvSpPr txBox="1"/>
          <p:nvPr/>
        </p:nvSpPr>
        <p:spPr>
          <a:xfrm>
            <a:off x="5832565" y="4912256"/>
            <a:ext cx="3912630" cy="596900"/>
          </a:xfrm>
          <a:prstGeom prst="rect">
            <a:avLst/>
          </a:prstGeom>
        </p:spPr>
        <p:txBody>
          <a:bodyPr lIns="0" tIns="0" rIns="0" bIns="0" rtlCol="0" anchor="t">
            <a:spAutoFit/>
          </a:bodyPr>
          <a:lstStyle/>
          <a:p>
            <a:pPr algn="l">
              <a:lnSpc>
                <a:spcPts val="4900"/>
              </a:lnSpc>
              <a:spcBef>
                <a:spcPct val="0"/>
              </a:spcBef>
            </a:pPr>
            <a:r>
              <a:rPr lang="en-US" sz="3500" b="1" spc="-70">
                <a:solidFill>
                  <a:srgbClr val="1836B2"/>
                </a:solidFill>
                <a:latin typeface="Muli Bold"/>
                <a:ea typeface="Muli Bold"/>
                <a:cs typeface="Muli Bold"/>
                <a:sym typeface="Muli Bold"/>
              </a:rPr>
              <a:t>2.</a:t>
            </a:r>
          </a:p>
        </p:txBody>
      </p:sp>
      <p:sp>
        <p:nvSpPr>
          <p:cNvPr id="28" name="TextBox 28"/>
          <p:cNvSpPr txBox="1"/>
          <p:nvPr/>
        </p:nvSpPr>
        <p:spPr>
          <a:xfrm>
            <a:off x="5832565" y="5564521"/>
            <a:ext cx="3912630" cy="455295"/>
          </a:xfrm>
          <a:prstGeom prst="rect">
            <a:avLst/>
          </a:prstGeom>
        </p:spPr>
        <p:txBody>
          <a:bodyPr lIns="0" tIns="0" rIns="0" bIns="0" rtlCol="0" anchor="t">
            <a:spAutoFit/>
          </a:bodyPr>
          <a:lstStyle/>
          <a:p>
            <a:pPr algn="l">
              <a:lnSpc>
                <a:spcPts val="3779"/>
              </a:lnSpc>
            </a:pPr>
            <a:r>
              <a:rPr lang="en-US" sz="2700" spc="13">
                <a:solidFill>
                  <a:srgbClr val="000000"/>
                </a:solidFill>
                <a:latin typeface="Muli Light"/>
                <a:ea typeface="Muli Light"/>
                <a:cs typeface="Muli Light"/>
                <a:sym typeface="Muli Light"/>
              </a:rPr>
              <a:t>Tiền xử lý dữ liệu</a:t>
            </a:r>
          </a:p>
        </p:txBody>
      </p:sp>
      <p:sp>
        <p:nvSpPr>
          <p:cNvPr id="29" name="TextBox 29"/>
          <p:cNvSpPr txBox="1"/>
          <p:nvPr/>
        </p:nvSpPr>
        <p:spPr>
          <a:xfrm>
            <a:off x="10224144" y="4912258"/>
            <a:ext cx="3912630" cy="596898"/>
          </a:xfrm>
          <a:prstGeom prst="rect">
            <a:avLst/>
          </a:prstGeom>
        </p:spPr>
        <p:txBody>
          <a:bodyPr lIns="0" tIns="0" rIns="0" bIns="0" rtlCol="0" anchor="t">
            <a:spAutoFit/>
          </a:bodyPr>
          <a:lstStyle/>
          <a:p>
            <a:pPr algn="l">
              <a:lnSpc>
                <a:spcPts val="4900"/>
              </a:lnSpc>
              <a:spcBef>
                <a:spcPct val="0"/>
              </a:spcBef>
            </a:pPr>
            <a:r>
              <a:rPr lang="en-US" sz="3500" b="1" spc="-70">
                <a:solidFill>
                  <a:srgbClr val="1836B2"/>
                </a:solidFill>
                <a:latin typeface="Muli Bold"/>
                <a:ea typeface="Muli Bold"/>
                <a:cs typeface="Muli Bold"/>
                <a:sym typeface="Muli Bold"/>
              </a:rPr>
              <a:t>3.</a:t>
            </a:r>
          </a:p>
        </p:txBody>
      </p:sp>
      <p:sp>
        <p:nvSpPr>
          <p:cNvPr id="30" name="TextBox 30"/>
          <p:cNvSpPr txBox="1"/>
          <p:nvPr/>
        </p:nvSpPr>
        <p:spPr>
          <a:xfrm>
            <a:off x="10222794" y="5564521"/>
            <a:ext cx="3912630" cy="455295"/>
          </a:xfrm>
          <a:prstGeom prst="rect">
            <a:avLst/>
          </a:prstGeom>
        </p:spPr>
        <p:txBody>
          <a:bodyPr lIns="0" tIns="0" rIns="0" bIns="0" rtlCol="0" anchor="t">
            <a:spAutoFit/>
          </a:bodyPr>
          <a:lstStyle/>
          <a:p>
            <a:pPr algn="l">
              <a:lnSpc>
                <a:spcPts val="3779"/>
              </a:lnSpc>
            </a:pPr>
            <a:r>
              <a:rPr lang="en-US" sz="2700" spc="13">
                <a:solidFill>
                  <a:srgbClr val="000000"/>
                </a:solidFill>
                <a:latin typeface="Muli Light"/>
                <a:ea typeface="Muli Light"/>
                <a:cs typeface="Muli Light"/>
                <a:sym typeface="Muli Light"/>
              </a:rPr>
              <a:t>Chia dữ liệu</a:t>
            </a:r>
          </a:p>
        </p:txBody>
      </p:sp>
      <p:sp>
        <p:nvSpPr>
          <p:cNvPr id="31" name="TextBox 31"/>
          <p:cNvSpPr txBox="1"/>
          <p:nvPr/>
        </p:nvSpPr>
        <p:spPr>
          <a:xfrm>
            <a:off x="14644298" y="4912258"/>
            <a:ext cx="3912630" cy="596900"/>
          </a:xfrm>
          <a:prstGeom prst="rect">
            <a:avLst/>
          </a:prstGeom>
        </p:spPr>
        <p:txBody>
          <a:bodyPr lIns="0" tIns="0" rIns="0" bIns="0" rtlCol="0" anchor="t">
            <a:spAutoFit/>
          </a:bodyPr>
          <a:lstStyle/>
          <a:p>
            <a:pPr algn="l">
              <a:lnSpc>
                <a:spcPts val="4900"/>
              </a:lnSpc>
              <a:spcBef>
                <a:spcPct val="0"/>
              </a:spcBef>
            </a:pPr>
            <a:r>
              <a:rPr lang="en-US" sz="3500" b="1" spc="-70">
                <a:solidFill>
                  <a:srgbClr val="1836B2"/>
                </a:solidFill>
                <a:latin typeface="Muli Bold"/>
                <a:ea typeface="Muli Bold"/>
                <a:cs typeface="Muli Bold"/>
                <a:sym typeface="Muli Bold"/>
              </a:rPr>
              <a:t>4.</a:t>
            </a:r>
          </a:p>
        </p:txBody>
      </p:sp>
      <p:sp>
        <p:nvSpPr>
          <p:cNvPr id="32" name="TextBox 32"/>
          <p:cNvSpPr txBox="1"/>
          <p:nvPr/>
        </p:nvSpPr>
        <p:spPr>
          <a:xfrm>
            <a:off x="14611675" y="5564521"/>
            <a:ext cx="3912630" cy="455295"/>
          </a:xfrm>
          <a:prstGeom prst="rect">
            <a:avLst/>
          </a:prstGeom>
        </p:spPr>
        <p:txBody>
          <a:bodyPr lIns="0" tIns="0" rIns="0" bIns="0" rtlCol="0" anchor="t">
            <a:spAutoFit/>
          </a:bodyPr>
          <a:lstStyle/>
          <a:p>
            <a:pPr algn="l">
              <a:lnSpc>
                <a:spcPts val="3779"/>
              </a:lnSpc>
            </a:pPr>
            <a:r>
              <a:rPr lang="en-US" sz="2700" spc="13">
                <a:solidFill>
                  <a:srgbClr val="000000"/>
                </a:solidFill>
                <a:latin typeface="Muli Light"/>
                <a:ea typeface="Muli Light"/>
                <a:cs typeface="Muli Light"/>
                <a:sym typeface="Muli Light"/>
              </a:rPr>
              <a:t>Huấn luyện mô hình</a:t>
            </a:r>
          </a:p>
        </p:txBody>
      </p:sp>
      <p:sp>
        <p:nvSpPr>
          <p:cNvPr id="33" name="TextBox 33"/>
          <p:cNvSpPr txBox="1"/>
          <p:nvPr/>
        </p:nvSpPr>
        <p:spPr>
          <a:xfrm>
            <a:off x="12768845" y="8359769"/>
            <a:ext cx="3912630" cy="596900"/>
          </a:xfrm>
          <a:prstGeom prst="rect">
            <a:avLst/>
          </a:prstGeom>
        </p:spPr>
        <p:txBody>
          <a:bodyPr lIns="0" tIns="0" rIns="0" bIns="0" rtlCol="0" anchor="t">
            <a:spAutoFit/>
          </a:bodyPr>
          <a:lstStyle/>
          <a:p>
            <a:pPr algn="l">
              <a:lnSpc>
                <a:spcPts val="4900"/>
              </a:lnSpc>
              <a:spcBef>
                <a:spcPct val="0"/>
              </a:spcBef>
            </a:pPr>
            <a:r>
              <a:rPr lang="en-US" sz="3500" b="1" spc="-70">
                <a:solidFill>
                  <a:srgbClr val="1836B2"/>
                </a:solidFill>
                <a:latin typeface="Muli Bold"/>
                <a:ea typeface="Muli Bold"/>
                <a:cs typeface="Muli Bold"/>
                <a:sym typeface="Muli Bold"/>
              </a:rPr>
              <a:t>5.</a:t>
            </a:r>
          </a:p>
        </p:txBody>
      </p:sp>
      <p:sp>
        <p:nvSpPr>
          <p:cNvPr id="34" name="TextBox 34"/>
          <p:cNvSpPr txBox="1"/>
          <p:nvPr/>
        </p:nvSpPr>
        <p:spPr>
          <a:xfrm>
            <a:off x="12768845" y="9062265"/>
            <a:ext cx="3912630" cy="455295"/>
          </a:xfrm>
          <a:prstGeom prst="rect">
            <a:avLst/>
          </a:prstGeom>
        </p:spPr>
        <p:txBody>
          <a:bodyPr lIns="0" tIns="0" rIns="0" bIns="0" rtlCol="0" anchor="t">
            <a:spAutoFit/>
          </a:bodyPr>
          <a:lstStyle/>
          <a:p>
            <a:pPr algn="l">
              <a:lnSpc>
                <a:spcPts val="3779"/>
              </a:lnSpc>
            </a:pPr>
            <a:r>
              <a:rPr lang="en-US" sz="2700" spc="13">
                <a:solidFill>
                  <a:srgbClr val="000000"/>
                </a:solidFill>
                <a:latin typeface="Muli Light"/>
                <a:ea typeface="Muli Light"/>
                <a:cs typeface="Muli Light"/>
                <a:sym typeface="Muli Light"/>
              </a:rPr>
              <a:t>Đánh giá mô hình</a:t>
            </a:r>
          </a:p>
        </p:txBody>
      </p:sp>
      <p:sp>
        <p:nvSpPr>
          <p:cNvPr id="35" name="TextBox 35"/>
          <p:cNvSpPr txBox="1"/>
          <p:nvPr/>
        </p:nvSpPr>
        <p:spPr>
          <a:xfrm>
            <a:off x="7939753" y="8414973"/>
            <a:ext cx="3912630" cy="596900"/>
          </a:xfrm>
          <a:prstGeom prst="rect">
            <a:avLst/>
          </a:prstGeom>
        </p:spPr>
        <p:txBody>
          <a:bodyPr lIns="0" tIns="0" rIns="0" bIns="0" rtlCol="0" anchor="t">
            <a:spAutoFit/>
          </a:bodyPr>
          <a:lstStyle/>
          <a:p>
            <a:pPr algn="l">
              <a:lnSpc>
                <a:spcPts val="4900"/>
              </a:lnSpc>
              <a:spcBef>
                <a:spcPct val="0"/>
              </a:spcBef>
            </a:pPr>
            <a:r>
              <a:rPr lang="en-US" sz="3500" b="1" spc="-70">
                <a:solidFill>
                  <a:srgbClr val="1836B2"/>
                </a:solidFill>
                <a:latin typeface="Muli Bold"/>
                <a:ea typeface="Muli Bold"/>
                <a:cs typeface="Muli Bold"/>
                <a:sym typeface="Muli Bold"/>
              </a:rPr>
              <a:t>6.</a:t>
            </a:r>
          </a:p>
        </p:txBody>
      </p:sp>
      <p:sp>
        <p:nvSpPr>
          <p:cNvPr id="36" name="TextBox 36"/>
          <p:cNvSpPr txBox="1"/>
          <p:nvPr/>
        </p:nvSpPr>
        <p:spPr>
          <a:xfrm>
            <a:off x="7939753" y="9097598"/>
            <a:ext cx="3912630" cy="931545"/>
          </a:xfrm>
          <a:prstGeom prst="rect">
            <a:avLst/>
          </a:prstGeom>
        </p:spPr>
        <p:txBody>
          <a:bodyPr lIns="0" tIns="0" rIns="0" bIns="0" rtlCol="0" anchor="t">
            <a:spAutoFit/>
          </a:bodyPr>
          <a:lstStyle/>
          <a:p>
            <a:pPr algn="l">
              <a:lnSpc>
                <a:spcPts val="3779"/>
              </a:lnSpc>
            </a:pPr>
            <a:r>
              <a:rPr lang="en-US" sz="2700" spc="13">
                <a:solidFill>
                  <a:srgbClr val="000000"/>
                </a:solidFill>
                <a:latin typeface="Muli Light"/>
                <a:ea typeface="Muli Light"/>
                <a:cs typeface="Muli Light"/>
                <a:sym typeface="Muli Light"/>
              </a:rPr>
              <a:t>Tối ưu(Hyperparameter Tuning): </a:t>
            </a:r>
          </a:p>
        </p:txBody>
      </p:sp>
      <p:sp>
        <p:nvSpPr>
          <p:cNvPr id="37" name="TextBox 37"/>
          <p:cNvSpPr txBox="1"/>
          <p:nvPr/>
        </p:nvSpPr>
        <p:spPr>
          <a:xfrm>
            <a:off x="3017955" y="8414973"/>
            <a:ext cx="3912630" cy="596900"/>
          </a:xfrm>
          <a:prstGeom prst="rect">
            <a:avLst/>
          </a:prstGeom>
        </p:spPr>
        <p:txBody>
          <a:bodyPr lIns="0" tIns="0" rIns="0" bIns="0" rtlCol="0" anchor="t">
            <a:spAutoFit/>
          </a:bodyPr>
          <a:lstStyle/>
          <a:p>
            <a:pPr algn="l">
              <a:lnSpc>
                <a:spcPts val="4900"/>
              </a:lnSpc>
              <a:spcBef>
                <a:spcPct val="0"/>
              </a:spcBef>
            </a:pPr>
            <a:r>
              <a:rPr lang="en-US" sz="3500" b="1" spc="-70">
                <a:solidFill>
                  <a:srgbClr val="1836B2"/>
                </a:solidFill>
                <a:latin typeface="Muli Bold"/>
                <a:ea typeface="Muli Bold"/>
                <a:cs typeface="Muli Bold"/>
                <a:sym typeface="Muli Bold"/>
              </a:rPr>
              <a:t>7.</a:t>
            </a:r>
          </a:p>
        </p:txBody>
      </p:sp>
      <p:sp>
        <p:nvSpPr>
          <p:cNvPr id="38" name="TextBox 38"/>
          <p:cNvSpPr txBox="1"/>
          <p:nvPr/>
        </p:nvSpPr>
        <p:spPr>
          <a:xfrm>
            <a:off x="3017955" y="9164273"/>
            <a:ext cx="3912630" cy="455295"/>
          </a:xfrm>
          <a:prstGeom prst="rect">
            <a:avLst/>
          </a:prstGeom>
        </p:spPr>
        <p:txBody>
          <a:bodyPr lIns="0" tIns="0" rIns="0" bIns="0" rtlCol="0" anchor="t">
            <a:spAutoFit/>
          </a:bodyPr>
          <a:lstStyle/>
          <a:p>
            <a:pPr algn="l">
              <a:lnSpc>
                <a:spcPts val="3779"/>
              </a:lnSpc>
            </a:pPr>
            <a:r>
              <a:rPr lang="en-US" sz="2700" spc="13">
                <a:solidFill>
                  <a:srgbClr val="000000"/>
                </a:solidFill>
                <a:latin typeface="Muli Light"/>
                <a:ea typeface="Muli Light"/>
                <a:cs typeface="Muli Light"/>
                <a:sym typeface="Muli Light"/>
              </a:rPr>
              <a:t>Triển khai và Giám sát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836B2"/>
        </a:solidFill>
        <a:effectLst/>
      </p:bgPr>
    </p:bg>
    <p:spTree>
      <p:nvGrpSpPr>
        <p:cNvPr id="1" name=""/>
        <p:cNvGrpSpPr/>
        <p:nvPr/>
      </p:nvGrpSpPr>
      <p:grpSpPr>
        <a:xfrm>
          <a:off x="0" y="0"/>
          <a:ext cx="0" cy="0"/>
          <a:chOff x="0" y="0"/>
          <a:chExt cx="0" cy="0"/>
        </a:xfrm>
      </p:grpSpPr>
      <p:sp>
        <p:nvSpPr>
          <p:cNvPr id="2" name="TextBox 2"/>
          <p:cNvSpPr txBox="1"/>
          <p:nvPr/>
        </p:nvSpPr>
        <p:spPr>
          <a:xfrm>
            <a:off x="9978261" y="2658090"/>
            <a:ext cx="7564327" cy="533400"/>
          </a:xfrm>
          <a:prstGeom prst="rect">
            <a:avLst/>
          </a:prstGeom>
        </p:spPr>
        <p:txBody>
          <a:bodyPr lIns="0" tIns="0" rIns="0" bIns="0" rtlCol="0" anchor="t">
            <a:spAutoFit/>
          </a:bodyPr>
          <a:lstStyle/>
          <a:p>
            <a:pPr algn="l">
              <a:lnSpc>
                <a:spcPts val="4200"/>
              </a:lnSpc>
            </a:pPr>
            <a:r>
              <a:rPr lang="en-US" sz="3500" b="1" spc="105">
                <a:solidFill>
                  <a:srgbClr val="FFFFFF"/>
                </a:solidFill>
                <a:latin typeface="Muli Ultra-Bold"/>
                <a:ea typeface="Muli Ultra-Bold"/>
                <a:cs typeface="Muli Ultra-Bold"/>
                <a:sym typeface="Muli Ultra-Bold"/>
              </a:rPr>
              <a:t>Mục tiêu cơ bản </a:t>
            </a:r>
          </a:p>
        </p:txBody>
      </p:sp>
      <p:grpSp>
        <p:nvGrpSpPr>
          <p:cNvPr id="3" name="Group 3"/>
          <p:cNvGrpSpPr/>
          <p:nvPr/>
        </p:nvGrpSpPr>
        <p:grpSpPr>
          <a:xfrm>
            <a:off x="9978261" y="4141490"/>
            <a:ext cx="7564327" cy="1181100"/>
            <a:chOff x="0" y="0"/>
            <a:chExt cx="10085769" cy="1574800"/>
          </a:xfrm>
        </p:grpSpPr>
        <p:sp>
          <p:nvSpPr>
            <p:cNvPr id="4" name="TextBox 4"/>
            <p:cNvSpPr txBox="1"/>
            <p:nvPr/>
          </p:nvSpPr>
          <p:spPr>
            <a:xfrm>
              <a:off x="0" y="908050"/>
              <a:ext cx="10085769" cy="666750"/>
            </a:xfrm>
            <a:prstGeom prst="rect">
              <a:avLst/>
            </a:prstGeom>
          </p:spPr>
          <p:txBody>
            <a:bodyPr lIns="0" tIns="0" rIns="0" bIns="0" rtlCol="0" anchor="t">
              <a:spAutoFit/>
            </a:bodyPr>
            <a:lstStyle/>
            <a:p>
              <a:pPr algn="l">
                <a:lnSpc>
                  <a:spcPts val="4200"/>
                </a:lnSpc>
              </a:pPr>
              <a:endParaRPr/>
            </a:p>
          </p:txBody>
        </p:sp>
        <p:sp>
          <p:nvSpPr>
            <p:cNvPr id="5" name="TextBox 5"/>
            <p:cNvSpPr txBox="1"/>
            <p:nvPr/>
          </p:nvSpPr>
          <p:spPr>
            <a:xfrm>
              <a:off x="0" y="0"/>
              <a:ext cx="10085769" cy="711200"/>
            </a:xfrm>
            <a:prstGeom prst="rect">
              <a:avLst/>
            </a:prstGeom>
          </p:spPr>
          <p:txBody>
            <a:bodyPr lIns="0" tIns="0" rIns="0" bIns="0" rtlCol="0" anchor="t">
              <a:spAutoFit/>
            </a:bodyPr>
            <a:lstStyle/>
            <a:p>
              <a:pPr algn="l">
                <a:lnSpc>
                  <a:spcPts val="4200"/>
                </a:lnSpc>
              </a:pPr>
              <a:r>
                <a:rPr lang="en-US" sz="3500" b="1" spc="105">
                  <a:solidFill>
                    <a:srgbClr val="FFFFFF"/>
                  </a:solidFill>
                  <a:latin typeface="Muli Ultra-Bold"/>
                  <a:ea typeface="Muli Ultra-Bold"/>
                  <a:cs typeface="Muli Ultra-Bold"/>
                  <a:sym typeface="Muli Ultra-Bold"/>
                </a:rPr>
                <a:t>Loại đầu ra</a:t>
              </a:r>
            </a:p>
          </p:txBody>
        </p:sp>
      </p:grpSp>
      <p:sp>
        <p:nvSpPr>
          <p:cNvPr id="6" name="TextBox 6"/>
          <p:cNvSpPr txBox="1"/>
          <p:nvPr/>
        </p:nvSpPr>
        <p:spPr>
          <a:xfrm>
            <a:off x="9978261" y="5663203"/>
            <a:ext cx="7564327" cy="533400"/>
          </a:xfrm>
          <a:prstGeom prst="rect">
            <a:avLst/>
          </a:prstGeom>
        </p:spPr>
        <p:txBody>
          <a:bodyPr lIns="0" tIns="0" rIns="0" bIns="0" rtlCol="0" anchor="t">
            <a:spAutoFit/>
          </a:bodyPr>
          <a:lstStyle/>
          <a:p>
            <a:pPr algn="l">
              <a:lnSpc>
                <a:spcPts val="4200"/>
              </a:lnSpc>
            </a:pPr>
            <a:r>
              <a:rPr lang="en-US" sz="3500" b="1" spc="105">
                <a:solidFill>
                  <a:srgbClr val="FFFFFF"/>
                </a:solidFill>
                <a:latin typeface="Muli Ultra-Bold"/>
                <a:ea typeface="Muli Ultra-Bold"/>
                <a:cs typeface="Muli Ultra-Bold"/>
                <a:sym typeface="Muli Ultra-Bold"/>
              </a:rPr>
              <a:t>Loại dữ liệu</a:t>
            </a:r>
          </a:p>
        </p:txBody>
      </p:sp>
      <p:grpSp>
        <p:nvGrpSpPr>
          <p:cNvPr id="7" name="Group 7"/>
          <p:cNvGrpSpPr/>
          <p:nvPr/>
        </p:nvGrpSpPr>
        <p:grpSpPr>
          <a:xfrm>
            <a:off x="1412252" y="1262732"/>
            <a:ext cx="7142029" cy="4667171"/>
            <a:chOff x="0" y="0"/>
            <a:chExt cx="9522706" cy="6222894"/>
          </a:xfrm>
        </p:grpSpPr>
        <p:sp>
          <p:nvSpPr>
            <p:cNvPr id="8" name="TextBox 8"/>
            <p:cNvSpPr txBox="1"/>
            <p:nvPr/>
          </p:nvSpPr>
          <p:spPr>
            <a:xfrm>
              <a:off x="0" y="85725"/>
              <a:ext cx="9522706" cy="4743238"/>
            </a:xfrm>
            <a:prstGeom prst="rect">
              <a:avLst/>
            </a:prstGeom>
          </p:spPr>
          <p:txBody>
            <a:bodyPr lIns="0" tIns="0" rIns="0" bIns="0" rtlCol="0" anchor="t">
              <a:spAutoFit/>
            </a:bodyPr>
            <a:lstStyle/>
            <a:p>
              <a:pPr algn="l">
                <a:lnSpc>
                  <a:spcPts val="9267"/>
                </a:lnSpc>
              </a:pPr>
              <a:r>
                <a:rPr lang="en-US" sz="8424" b="1">
                  <a:solidFill>
                    <a:srgbClr val="FFFFFF"/>
                  </a:solidFill>
                  <a:latin typeface="Muli Semi-Bold"/>
                  <a:ea typeface="Muli Semi-Bold"/>
                  <a:cs typeface="Muli Semi-Bold"/>
                  <a:sym typeface="Muli Semi-Bold"/>
                </a:rPr>
                <a:t>Phân biệt Classification và Regression </a:t>
              </a:r>
            </a:p>
          </p:txBody>
        </p:sp>
        <p:sp>
          <p:nvSpPr>
            <p:cNvPr id="9" name="TextBox 9"/>
            <p:cNvSpPr txBox="1"/>
            <p:nvPr/>
          </p:nvSpPr>
          <p:spPr>
            <a:xfrm>
              <a:off x="0" y="5413269"/>
              <a:ext cx="9522706" cy="591185"/>
            </a:xfrm>
            <a:prstGeom prst="rect">
              <a:avLst/>
            </a:prstGeom>
          </p:spPr>
          <p:txBody>
            <a:bodyPr lIns="0" tIns="0" rIns="0" bIns="0" rtlCol="0" anchor="t">
              <a:spAutoFit/>
            </a:bodyPr>
            <a:lstStyle/>
            <a:p>
              <a:pPr algn="l">
                <a:lnSpc>
                  <a:spcPts val="3779"/>
                </a:lnSpc>
              </a:pPr>
              <a:endParaRPr/>
            </a:p>
          </p:txBody>
        </p:sp>
      </p:grpSp>
      <p:sp>
        <p:nvSpPr>
          <p:cNvPr id="10" name="Freeform 10"/>
          <p:cNvSpPr/>
          <p:nvPr/>
        </p:nvSpPr>
        <p:spPr>
          <a:xfrm flipH="1">
            <a:off x="-2053973" y="6773437"/>
            <a:ext cx="8370405" cy="4779226"/>
          </a:xfrm>
          <a:custGeom>
            <a:avLst/>
            <a:gdLst/>
            <a:ahLst/>
            <a:cxnLst/>
            <a:rect l="l" t="t" r="r" b="b"/>
            <a:pathLst>
              <a:path w="8370405" h="4779226">
                <a:moveTo>
                  <a:pt x="8370405" y="0"/>
                </a:moveTo>
                <a:lnTo>
                  <a:pt x="0" y="0"/>
                </a:lnTo>
                <a:lnTo>
                  <a:pt x="0" y="4779226"/>
                </a:lnTo>
                <a:lnTo>
                  <a:pt x="8370405" y="4779226"/>
                </a:lnTo>
                <a:lnTo>
                  <a:pt x="8370405" y="0"/>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en-US"/>
          </a:p>
        </p:txBody>
      </p:sp>
      <p:sp>
        <p:nvSpPr>
          <p:cNvPr id="11" name="TextBox 11"/>
          <p:cNvSpPr txBox="1"/>
          <p:nvPr/>
        </p:nvSpPr>
        <p:spPr>
          <a:xfrm>
            <a:off x="9978261" y="7039322"/>
            <a:ext cx="7564327" cy="533400"/>
          </a:xfrm>
          <a:prstGeom prst="rect">
            <a:avLst/>
          </a:prstGeom>
        </p:spPr>
        <p:txBody>
          <a:bodyPr lIns="0" tIns="0" rIns="0" bIns="0" rtlCol="0" anchor="t">
            <a:spAutoFit/>
          </a:bodyPr>
          <a:lstStyle/>
          <a:p>
            <a:pPr algn="l">
              <a:lnSpc>
                <a:spcPts val="4200"/>
              </a:lnSpc>
            </a:pPr>
            <a:r>
              <a:rPr lang="en-US" sz="3500" b="1" spc="105">
                <a:solidFill>
                  <a:srgbClr val="FFFFFF"/>
                </a:solidFill>
                <a:latin typeface="Muli Ultra-Bold"/>
                <a:ea typeface="Muli Ultra-Bold"/>
                <a:cs typeface="Muli Ultra-Bold"/>
                <a:sym typeface="Muli Ultra-Bold"/>
              </a:rPr>
              <a:t>Ví dụ </a:t>
            </a:r>
          </a:p>
        </p:txBody>
      </p:sp>
      <p:sp>
        <p:nvSpPr>
          <p:cNvPr id="12" name="TextBox 12"/>
          <p:cNvSpPr txBox="1"/>
          <p:nvPr/>
        </p:nvSpPr>
        <p:spPr>
          <a:xfrm>
            <a:off x="9978261" y="8325197"/>
            <a:ext cx="7564327" cy="533400"/>
          </a:xfrm>
          <a:prstGeom prst="rect">
            <a:avLst/>
          </a:prstGeom>
        </p:spPr>
        <p:txBody>
          <a:bodyPr lIns="0" tIns="0" rIns="0" bIns="0" rtlCol="0" anchor="t">
            <a:spAutoFit/>
          </a:bodyPr>
          <a:lstStyle/>
          <a:p>
            <a:pPr algn="l">
              <a:lnSpc>
                <a:spcPts val="4200"/>
              </a:lnSpc>
            </a:pPr>
            <a:r>
              <a:rPr lang="en-US" sz="3500" b="1" spc="105">
                <a:solidFill>
                  <a:srgbClr val="FFFFFF"/>
                </a:solidFill>
                <a:latin typeface="Muli Ultra-Bold"/>
                <a:ea typeface="Muli Ultra-Bold"/>
                <a:cs typeface="Muli Ultra-Bold"/>
                <a:sym typeface="Muli Ultra-Bold"/>
              </a:rPr>
              <a:t>Các thuật toán</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836B2"/>
        </a:solidFill>
        <a:effectLst/>
      </p:bgPr>
    </p:bg>
    <p:spTree>
      <p:nvGrpSpPr>
        <p:cNvPr id="1" name=""/>
        <p:cNvGrpSpPr/>
        <p:nvPr/>
      </p:nvGrpSpPr>
      <p:grpSpPr>
        <a:xfrm>
          <a:off x="0" y="0"/>
          <a:ext cx="0" cy="0"/>
          <a:chOff x="0" y="0"/>
          <a:chExt cx="0" cy="0"/>
        </a:xfrm>
      </p:grpSpPr>
      <p:sp>
        <p:nvSpPr>
          <p:cNvPr id="2" name="TextBox 2"/>
          <p:cNvSpPr txBox="1"/>
          <p:nvPr/>
        </p:nvSpPr>
        <p:spPr>
          <a:xfrm>
            <a:off x="649678" y="3117209"/>
            <a:ext cx="3782164" cy="533400"/>
          </a:xfrm>
          <a:prstGeom prst="rect">
            <a:avLst/>
          </a:prstGeom>
        </p:spPr>
        <p:txBody>
          <a:bodyPr lIns="0" tIns="0" rIns="0" bIns="0" rtlCol="0" anchor="t">
            <a:spAutoFit/>
          </a:bodyPr>
          <a:lstStyle/>
          <a:p>
            <a:pPr algn="l">
              <a:lnSpc>
                <a:spcPts val="4200"/>
              </a:lnSpc>
            </a:pPr>
            <a:r>
              <a:rPr lang="en-US" sz="3500" b="1" spc="105">
                <a:solidFill>
                  <a:srgbClr val="FFFFFF"/>
                </a:solidFill>
                <a:latin typeface="Muli Ultra-Bold"/>
                <a:ea typeface="Muli Ultra-Bold"/>
                <a:cs typeface="Muli Ultra-Bold"/>
                <a:sym typeface="Muli Ultra-Bold"/>
              </a:rPr>
              <a:t>Mục tiêu cơ bản </a:t>
            </a:r>
          </a:p>
        </p:txBody>
      </p:sp>
      <p:grpSp>
        <p:nvGrpSpPr>
          <p:cNvPr id="3" name="Group 3"/>
          <p:cNvGrpSpPr/>
          <p:nvPr/>
        </p:nvGrpSpPr>
        <p:grpSpPr>
          <a:xfrm>
            <a:off x="649678" y="4423169"/>
            <a:ext cx="7564327" cy="1181100"/>
            <a:chOff x="0" y="0"/>
            <a:chExt cx="10085769" cy="1574800"/>
          </a:xfrm>
        </p:grpSpPr>
        <p:sp>
          <p:nvSpPr>
            <p:cNvPr id="4" name="TextBox 4"/>
            <p:cNvSpPr txBox="1"/>
            <p:nvPr/>
          </p:nvSpPr>
          <p:spPr>
            <a:xfrm>
              <a:off x="0" y="908050"/>
              <a:ext cx="10085769" cy="666750"/>
            </a:xfrm>
            <a:prstGeom prst="rect">
              <a:avLst/>
            </a:prstGeom>
          </p:spPr>
          <p:txBody>
            <a:bodyPr lIns="0" tIns="0" rIns="0" bIns="0" rtlCol="0" anchor="t">
              <a:spAutoFit/>
            </a:bodyPr>
            <a:lstStyle/>
            <a:p>
              <a:pPr algn="l">
                <a:lnSpc>
                  <a:spcPts val="4200"/>
                </a:lnSpc>
              </a:pPr>
              <a:endParaRPr/>
            </a:p>
          </p:txBody>
        </p:sp>
        <p:sp>
          <p:nvSpPr>
            <p:cNvPr id="5" name="TextBox 5"/>
            <p:cNvSpPr txBox="1"/>
            <p:nvPr/>
          </p:nvSpPr>
          <p:spPr>
            <a:xfrm>
              <a:off x="0" y="0"/>
              <a:ext cx="10085769" cy="711200"/>
            </a:xfrm>
            <a:prstGeom prst="rect">
              <a:avLst/>
            </a:prstGeom>
          </p:spPr>
          <p:txBody>
            <a:bodyPr lIns="0" tIns="0" rIns="0" bIns="0" rtlCol="0" anchor="t">
              <a:spAutoFit/>
            </a:bodyPr>
            <a:lstStyle/>
            <a:p>
              <a:pPr algn="l">
                <a:lnSpc>
                  <a:spcPts val="4200"/>
                </a:lnSpc>
              </a:pPr>
              <a:r>
                <a:rPr lang="en-US" sz="3500" b="1" spc="105">
                  <a:solidFill>
                    <a:srgbClr val="FFFFFF"/>
                  </a:solidFill>
                  <a:latin typeface="Muli Ultra-Bold"/>
                  <a:ea typeface="Muli Ultra-Bold"/>
                  <a:cs typeface="Muli Ultra-Bold"/>
                  <a:sym typeface="Muli Ultra-Bold"/>
                </a:rPr>
                <a:t>Loại đầu ra</a:t>
              </a:r>
            </a:p>
          </p:txBody>
        </p:sp>
      </p:grpSp>
      <p:sp>
        <p:nvSpPr>
          <p:cNvPr id="6" name="TextBox 6"/>
          <p:cNvSpPr txBox="1"/>
          <p:nvPr/>
        </p:nvSpPr>
        <p:spPr>
          <a:xfrm>
            <a:off x="649678" y="5928119"/>
            <a:ext cx="3427164" cy="533400"/>
          </a:xfrm>
          <a:prstGeom prst="rect">
            <a:avLst/>
          </a:prstGeom>
        </p:spPr>
        <p:txBody>
          <a:bodyPr lIns="0" tIns="0" rIns="0" bIns="0" rtlCol="0" anchor="t">
            <a:spAutoFit/>
          </a:bodyPr>
          <a:lstStyle/>
          <a:p>
            <a:pPr algn="l">
              <a:lnSpc>
                <a:spcPts val="4200"/>
              </a:lnSpc>
            </a:pPr>
            <a:r>
              <a:rPr lang="en-US" sz="3500" b="1" spc="105">
                <a:solidFill>
                  <a:srgbClr val="FFFFFF"/>
                </a:solidFill>
                <a:latin typeface="Muli Ultra-Bold"/>
                <a:ea typeface="Muli Ultra-Bold"/>
                <a:cs typeface="Muli Ultra-Bold"/>
                <a:sym typeface="Muli Ultra-Bold"/>
              </a:rPr>
              <a:t>Loại dữ liệu</a:t>
            </a:r>
          </a:p>
        </p:txBody>
      </p:sp>
      <p:sp>
        <p:nvSpPr>
          <p:cNvPr id="7" name="Freeform 7"/>
          <p:cNvSpPr/>
          <p:nvPr/>
        </p:nvSpPr>
        <p:spPr>
          <a:xfrm flipH="1">
            <a:off x="-1654633" y="-3162144"/>
            <a:ext cx="8370405" cy="4779226"/>
          </a:xfrm>
          <a:custGeom>
            <a:avLst/>
            <a:gdLst/>
            <a:ahLst/>
            <a:cxnLst/>
            <a:rect l="l" t="t" r="r" b="b"/>
            <a:pathLst>
              <a:path w="8370405" h="4779226">
                <a:moveTo>
                  <a:pt x="8370405" y="0"/>
                </a:moveTo>
                <a:lnTo>
                  <a:pt x="0" y="0"/>
                </a:lnTo>
                <a:lnTo>
                  <a:pt x="0" y="4779227"/>
                </a:lnTo>
                <a:lnTo>
                  <a:pt x="8370405" y="4779227"/>
                </a:lnTo>
                <a:lnTo>
                  <a:pt x="8370405" y="0"/>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en-US"/>
          </a:p>
        </p:txBody>
      </p:sp>
      <p:sp>
        <p:nvSpPr>
          <p:cNvPr id="8" name="TextBox 8"/>
          <p:cNvSpPr txBox="1"/>
          <p:nvPr/>
        </p:nvSpPr>
        <p:spPr>
          <a:xfrm>
            <a:off x="668728" y="7432793"/>
            <a:ext cx="2324986" cy="533400"/>
          </a:xfrm>
          <a:prstGeom prst="rect">
            <a:avLst/>
          </a:prstGeom>
        </p:spPr>
        <p:txBody>
          <a:bodyPr lIns="0" tIns="0" rIns="0" bIns="0" rtlCol="0" anchor="t">
            <a:spAutoFit/>
          </a:bodyPr>
          <a:lstStyle/>
          <a:p>
            <a:pPr algn="l">
              <a:lnSpc>
                <a:spcPts val="4200"/>
              </a:lnSpc>
            </a:pPr>
            <a:r>
              <a:rPr lang="en-US" sz="3500" b="1" spc="105">
                <a:solidFill>
                  <a:srgbClr val="FFFFFF"/>
                </a:solidFill>
                <a:latin typeface="Muli Ultra-Bold"/>
                <a:ea typeface="Muli Ultra-Bold"/>
                <a:cs typeface="Muli Ultra-Bold"/>
                <a:sym typeface="Muli Ultra-Bold"/>
              </a:rPr>
              <a:t>Ví dụ </a:t>
            </a:r>
          </a:p>
        </p:txBody>
      </p:sp>
      <p:sp>
        <p:nvSpPr>
          <p:cNvPr id="9" name="TextBox 9"/>
          <p:cNvSpPr txBox="1"/>
          <p:nvPr/>
        </p:nvSpPr>
        <p:spPr>
          <a:xfrm>
            <a:off x="649678" y="8823443"/>
            <a:ext cx="3554953" cy="533400"/>
          </a:xfrm>
          <a:prstGeom prst="rect">
            <a:avLst/>
          </a:prstGeom>
        </p:spPr>
        <p:txBody>
          <a:bodyPr lIns="0" tIns="0" rIns="0" bIns="0" rtlCol="0" anchor="t">
            <a:spAutoFit/>
          </a:bodyPr>
          <a:lstStyle/>
          <a:p>
            <a:pPr algn="l">
              <a:lnSpc>
                <a:spcPts val="4200"/>
              </a:lnSpc>
            </a:pPr>
            <a:r>
              <a:rPr lang="en-US" sz="3500" b="1" spc="105">
                <a:solidFill>
                  <a:srgbClr val="FFFFFF"/>
                </a:solidFill>
                <a:latin typeface="Muli Ultra-Bold"/>
                <a:ea typeface="Muli Ultra-Bold"/>
                <a:cs typeface="Muli Ultra-Bold"/>
                <a:sym typeface="Muli Ultra-Bold"/>
              </a:rPr>
              <a:t>Các thuật toán</a:t>
            </a:r>
          </a:p>
        </p:txBody>
      </p:sp>
      <p:sp>
        <p:nvSpPr>
          <p:cNvPr id="10" name="AutoShape 10"/>
          <p:cNvSpPr/>
          <p:nvPr/>
        </p:nvSpPr>
        <p:spPr>
          <a:xfrm>
            <a:off x="668728" y="4080269"/>
            <a:ext cx="17259250" cy="0"/>
          </a:xfrm>
          <a:prstGeom prst="line">
            <a:avLst/>
          </a:prstGeom>
          <a:ln w="38100" cap="flat">
            <a:solidFill>
              <a:srgbClr val="FFFFFF"/>
            </a:solidFill>
            <a:prstDash val="sysDash"/>
            <a:headEnd type="none" w="sm" len="sm"/>
            <a:tailEnd type="none" w="sm" len="sm"/>
          </a:ln>
        </p:spPr>
        <p:txBody>
          <a:bodyPr/>
          <a:lstStyle/>
          <a:p>
            <a:endParaRPr lang="en-US"/>
          </a:p>
        </p:txBody>
      </p:sp>
      <p:sp>
        <p:nvSpPr>
          <p:cNvPr id="11" name="AutoShape 11"/>
          <p:cNvSpPr/>
          <p:nvPr/>
        </p:nvSpPr>
        <p:spPr>
          <a:xfrm>
            <a:off x="4450891" y="1870802"/>
            <a:ext cx="0" cy="7806189"/>
          </a:xfrm>
          <a:prstGeom prst="line">
            <a:avLst/>
          </a:prstGeom>
          <a:ln w="38100" cap="flat">
            <a:solidFill>
              <a:srgbClr val="FFFFFF"/>
            </a:solidFill>
            <a:prstDash val="sysDash"/>
            <a:headEnd type="none" w="sm" len="sm"/>
            <a:tailEnd type="none" w="sm" len="sm"/>
          </a:ln>
        </p:spPr>
        <p:txBody>
          <a:bodyPr/>
          <a:lstStyle/>
          <a:p>
            <a:endParaRPr lang="en-US"/>
          </a:p>
        </p:txBody>
      </p:sp>
      <p:sp>
        <p:nvSpPr>
          <p:cNvPr id="12" name="AutoShape 12"/>
          <p:cNvSpPr/>
          <p:nvPr/>
        </p:nvSpPr>
        <p:spPr>
          <a:xfrm>
            <a:off x="11248310" y="1718811"/>
            <a:ext cx="0" cy="7806189"/>
          </a:xfrm>
          <a:prstGeom prst="line">
            <a:avLst/>
          </a:prstGeom>
          <a:ln w="38100" cap="flat">
            <a:solidFill>
              <a:srgbClr val="FFFFFF"/>
            </a:solidFill>
            <a:prstDash val="sysDash"/>
            <a:headEnd type="none" w="sm" len="sm"/>
            <a:tailEnd type="none" w="sm" len="sm"/>
          </a:ln>
        </p:spPr>
        <p:txBody>
          <a:bodyPr/>
          <a:lstStyle/>
          <a:p>
            <a:endParaRPr lang="en-US"/>
          </a:p>
        </p:txBody>
      </p:sp>
      <p:sp>
        <p:nvSpPr>
          <p:cNvPr id="13" name="AutoShape 13"/>
          <p:cNvSpPr/>
          <p:nvPr/>
        </p:nvSpPr>
        <p:spPr>
          <a:xfrm>
            <a:off x="649678" y="5457549"/>
            <a:ext cx="17259250" cy="0"/>
          </a:xfrm>
          <a:prstGeom prst="line">
            <a:avLst/>
          </a:prstGeom>
          <a:ln w="38100" cap="flat">
            <a:solidFill>
              <a:srgbClr val="FFFFFF"/>
            </a:solidFill>
            <a:prstDash val="sysDash"/>
            <a:headEnd type="none" w="sm" len="sm"/>
            <a:tailEnd type="none" w="sm" len="sm"/>
          </a:ln>
        </p:spPr>
        <p:txBody>
          <a:bodyPr/>
          <a:lstStyle/>
          <a:p>
            <a:endParaRPr lang="en-US"/>
          </a:p>
        </p:txBody>
      </p:sp>
      <p:sp>
        <p:nvSpPr>
          <p:cNvPr id="14" name="AutoShape 14"/>
          <p:cNvSpPr/>
          <p:nvPr/>
        </p:nvSpPr>
        <p:spPr>
          <a:xfrm>
            <a:off x="649678" y="2776328"/>
            <a:ext cx="17259250" cy="0"/>
          </a:xfrm>
          <a:prstGeom prst="line">
            <a:avLst/>
          </a:prstGeom>
          <a:ln w="38100" cap="flat">
            <a:solidFill>
              <a:srgbClr val="FFFFFF"/>
            </a:solidFill>
            <a:prstDash val="sysDash"/>
            <a:headEnd type="none" w="sm" len="sm"/>
            <a:tailEnd type="none" w="sm" len="sm"/>
          </a:ln>
        </p:spPr>
        <p:txBody>
          <a:bodyPr/>
          <a:lstStyle/>
          <a:p>
            <a:endParaRPr lang="en-US"/>
          </a:p>
        </p:txBody>
      </p:sp>
      <p:sp>
        <p:nvSpPr>
          <p:cNvPr id="15" name="AutoShape 15"/>
          <p:cNvSpPr/>
          <p:nvPr/>
        </p:nvSpPr>
        <p:spPr>
          <a:xfrm>
            <a:off x="649678" y="7004168"/>
            <a:ext cx="17259250" cy="0"/>
          </a:xfrm>
          <a:prstGeom prst="line">
            <a:avLst/>
          </a:prstGeom>
          <a:ln w="38100" cap="flat">
            <a:solidFill>
              <a:srgbClr val="FFFFFF"/>
            </a:solidFill>
            <a:prstDash val="sysDash"/>
            <a:headEnd type="none" w="sm" len="sm"/>
            <a:tailEnd type="none" w="sm" len="sm"/>
          </a:ln>
        </p:spPr>
        <p:txBody>
          <a:bodyPr/>
          <a:lstStyle/>
          <a:p>
            <a:endParaRPr lang="en-US"/>
          </a:p>
        </p:txBody>
      </p:sp>
      <p:sp>
        <p:nvSpPr>
          <p:cNvPr id="16" name="AutoShape 16"/>
          <p:cNvSpPr/>
          <p:nvPr/>
        </p:nvSpPr>
        <p:spPr>
          <a:xfrm>
            <a:off x="649678" y="8394818"/>
            <a:ext cx="17259250" cy="0"/>
          </a:xfrm>
          <a:prstGeom prst="line">
            <a:avLst/>
          </a:prstGeom>
          <a:ln w="38100" cap="flat">
            <a:solidFill>
              <a:srgbClr val="FFFFFF"/>
            </a:solidFill>
            <a:prstDash val="sysDash"/>
            <a:headEnd type="none" w="sm" len="sm"/>
            <a:tailEnd type="none" w="sm" len="sm"/>
          </a:ln>
        </p:spPr>
        <p:txBody>
          <a:bodyPr/>
          <a:lstStyle/>
          <a:p>
            <a:endParaRPr lang="en-US"/>
          </a:p>
        </p:txBody>
      </p:sp>
      <p:sp>
        <p:nvSpPr>
          <p:cNvPr id="17" name="TextBox 17"/>
          <p:cNvSpPr txBox="1"/>
          <p:nvPr/>
        </p:nvSpPr>
        <p:spPr>
          <a:xfrm>
            <a:off x="4763531" y="1920480"/>
            <a:ext cx="7564327" cy="533400"/>
          </a:xfrm>
          <a:prstGeom prst="rect">
            <a:avLst/>
          </a:prstGeom>
        </p:spPr>
        <p:txBody>
          <a:bodyPr lIns="0" tIns="0" rIns="0" bIns="0" rtlCol="0" anchor="t">
            <a:spAutoFit/>
          </a:bodyPr>
          <a:lstStyle/>
          <a:p>
            <a:pPr algn="l">
              <a:lnSpc>
                <a:spcPts val="4200"/>
              </a:lnSpc>
            </a:pPr>
            <a:r>
              <a:rPr lang="en-US" sz="3500" b="1" spc="105">
                <a:solidFill>
                  <a:srgbClr val="FFFFFF"/>
                </a:solidFill>
                <a:latin typeface="Muli Bold"/>
                <a:ea typeface="Muli Bold"/>
                <a:cs typeface="Muli Bold"/>
                <a:sym typeface="Muli Bold"/>
              </a:rPr>
              <a:t>Supervised learning</a:t>
            </a:r>
          </a:p>
        </p:txBody>
      </p:sp>
      <p:sp>
        <p:nvSpPr>
          <p:cNvPr id="18" name="TextBox 18"/>
          <p:cNvSpPr txBox="1"/>
          <p:nvPr/>
        </p:nvSpPr>
        <p:spPr>
          <a:xfrm>
            <a:off x="11672765" y="1920480"/>
            <a:ext cx="7564327" cy="533400"/>
          </a:xfrm>
          <a:prstGeom prst="rect">
            <a:avLst/>
          </a:prstGeom>
        </p:spPr>
        <p:txBody>
          <a:bodyPr lIns="0" tIns="0" rIns="0" bIns="0" rtlCol="0" anchor="t">
            <a:spAutoFit/>
          </a:bodyPr>
          <a:lstStyle/>
          <a:p>
            <a:pPr algn="l">
              <a:lnSpc>
                <a:spcPts val="4200"/>
              </a:lnSpc>
            </a:pPr>
            <a:r>
              <a:rPr lang="en-US" sz="3500" b="1" spc="105">
                <a:solidFill>
                  <a:srgbClr val="FFFFFF"/>
                </a:solidFill>
                <a:latin typeface="Muli Bold"/>
                <a:ea typeface="Muli Bold"/>
                <a:cs typeface="Muli Bold"/>
                <a:sym typeface="Muli Bold"/>
              </a:rPr>
              <a:t>Unsupervised learning</a:t>
            </a:r>
          </a:p>
        </p:txBody>
      </p:sp>
      <p:sp>
        <p:nvSpPr>
          <p:cNvPr id="19" name="TextBox 19"/>
          <p:cNvSpPr txBox="1"/>
          <p:nvPr/>
        </p:nvSpPr>
        <p:spPr>
          <a:xfrm>
            <a:off x="4763531" y="3117209"/>
            <a:ext cx="4900316" cy="457200"/>
          </a:xfrm>
          <a:prstGeom prst="rect">
            <a:avLst/>
          </a:prstGeom>
        </p:spPr>
        <p:txBody>
          <a:bodyPr lIns="0" tIns="0" rIns="0" bIns="0" rtlCol="0" anchor="t">
            <a:spAutoFit/>
          </a:bodyPr>
          <a:lstStyle/>
          <a:p>
            <a:pPr algn="l">
              <a:lnSpc>
                <a:spcPts val="3600"/>
              </a:lnSpc>
            </a:pPr>
            <a:r>
              <a:rPr lang="en-US" sz="3000" spc="90">
                <a:solidFill>
                  <a:srgbClr val="FFFFFF"/>
                </a:solidFill>
                <a:latin typeface="Muli"/>
                <a:ea typeface="Muli"/>
                <a:cs typeface="Muli"/>
                <a:sym typeface="Muli"/>
              </a:rPr>
              <a:t>Nhãn hoặc giá trị rời rạc</a:t>
            </a:r>
          </a:p>
        </p:txBody>
      </p:sp>
      <p:sp>
        <p:nvSpPr>
          <p:cNvPr id="20" name="TextBox 20"/>
          <p:cNvSpPr txBox="1"/>
          <p:nvPr/>
        </p:nvSpPr>
        <p:spPr>
          <a:xfrm>
            <a:off x="11562635" y="3155309"/>
            <a:ext cx="3782164" cy="457200"/>
          </a:xfrm>
          <a:prstGeom prst="rect">
            <a:avLst/>
          </a:prstGeom>
        </p:spPr>
        <p:txBody>
          <a:bodyPr lIns="0" tIns="0" rIns="0" bIns="0" rtlCol="0" anchor="t">
            <a:spAutoFit/>
          </a:bodyPr>
          <a:lstStyle/>
          <a:p>
            <a:pPr algn="l">
              <a:lnSpc>
                <a:spcPts val="3600"/>
              </a:lnSpc>
            </a:pPr>
            <a:r>
              <a:rPr lang="en-US" sz="3000" spc="90">
                <a:solidFill>
                  <a:srgbClr val="FFFFFF"/>
                </a:solidFill>
                <a:latin typeface="Muli"/>
                <a:ea typeface="Muli"/>
                <a:cs typeface="Muli"/>
                <a:sym typeface="Muli"/>
              </a:rPr>
              <a:t>Giá trị liên tục</a:t>
            </a:r>
          </a:p>
        </p:txBody>
      </p:sp>
      <p:sp>
        <p:nvSpPr>
          <p:cNvPr id="21" name="TextBox 21"/>
          <p:cNvSpPr txBox="1"/>
          <p:nvPr/>
        </p:nvSpPr>
        <p:spPr>
          <a:xfrm>
            <a:off x="4763531" y="4404119"/>
            <a:ext cx="6130283" cy="914400"/>
          </a:xfrm>
          <a:prstGeom prst="rect">
            <a:avLst/>
          </a:prstGeom>
        </p:spPr>
        <p:txBody>
          <a:bodyPr lIns="0" tIns="0" rIns="0" bIns="0" rtlCol="0" anchor="t">
            <a:spAutoFit/>
          </a:bodyPr>
          <a:lstStyle/>
          <a:p>
            <a:pPr algn="l">
              <a:lnSpc>
                <a:spcPts val="3600"/>
              </a:lnSpc>
            </a:pPr>
            <a:r>
              <a:rPr lang="en-US" sz="3000" spc="90">
                <a:solidFill>
                  <a:srgbClr val="FFFFFF"/>
                </a:solidFill>
                <a:latin typeface="Muli"/>
                <a:ea typeface="Muli"/>
                <a:cs typeface="Muli"/>
                <a:sym typeface="Muli"/>
              </a:rPr>
              <a:t>Các lớp(categories) đã xác định trước</a:t>
            </a:r>
          </a:p>
        </p:txBody>
      </p:sp>
      <p:sp>
        <p:nvSpPr>
          <p:cNvPr id="22" name="TextBox 22"/>
          <p:cNvSpPr txBox="1"/>
          <p:nvPr/>
        </p:nvSpPr>
        <p:spPr>
          <a:xfrm>
            <a:off x="11672765" y="4404119"/>
            <a:ext cx="6130283" cy="457200"/>
          </a:xfrm>
          <a:prstGeom prst="rect">
            <a:avLst/>
          </a:prstGeom>
        </p:spPr>
        <p:txBody>
          <a:bodyPr lIns="0" tIns="0" rIns="0" bIns="0" rtlCol="0" anchor="t">
            <a:spAutoFit/>
          </a:bodyPr>
          <a:lstStyle/>
          <a:p>
            <a:pPr algn="l">
              <a:lnSpc>
                <a:spcPts val="3600"/>
              </a:lnSpc>
            </a:pPr>
            <a:r>
              <a:rPr lang="en-US" sz="3000" spc="90">
                <a:solidFill>
                  <a:srgbClr val="FFFFFF"/>
                </a:solidFill>
                <a:latin typeface="Muli"/>
                <a:ea typeface="Muli"/>
                <a:cs typeface="Muli"/>
                <a:sym typeface="Muli"/>
              </a:rPr>
              <a:t>Số thực</a:t>
            </a:r>
          </a:p>
        </p:txBody>
      </p:sp>
      <p:sp>
        <p:nvSpPr>
          <p:cNvPr id="23" name="TextBox 23"/>
          <p:cNvSpPr txBox="1"/>
          <p:nvPr/>
        </p:nvSpPr>
        <p:spPr>
          <a:xfrm>
            <a:off x="4763531" y="6004319"/>
            <a:ext cx="2168830" cy="457200"/>
          </a:xfrm>
          <a:prstGeom prst="rect">
            <a:avLst/>
          </a:prstGeom>
        </p:spPr>
        <p:txBody>
          <a:bodyPr lIns="0" tIns="0" rIns="0" bIns="0" rtlCol="0" anchor="t">
            <a:spAutoFit/>
          </a:bodyPr>
          <a:lstStyle/>
          <a:p>
            <a:pPr algn="l">
              <a:lnSpc>
                <a:spcPts val="3600"/>
              </a:lnSpc>
            </a:pPr>
            <a:r>
              <a:rPr lang="en-US" sz="3000" spc="90">
                <a:solidFill>
                  <a:srgbClr val="FFFFFF"/>
                </a:solidFill>
                <a:latin typeface="Muli"/>
                <a:ea typeface="Muli"/>
                <a:cs typeface="Muli"/>
                <a:sym typeface="Muli"/>
              </a:rPr>
              <a:t>Định tính</a:t>
            </a:r>
          </a:p>
        </p:txBody>
      </p:sp>
      <p:sp>
        <p:nvSpPr>
          <p:cNvPr id="24" name="TextBox 24"/>
          <p:cNvSpPr txBox="1"/>
          <p:nvPr/>
        </p:nvSpPr>
        <p:spPr>
          <a:xfrm>
            <a:off x="11672765" y="6004319"/>
            <a:ext cx="2168830" cy="457200"/>
          </a:xfrm>
          <a:prstGeom prst="rect">
            <a:avLst/>
          </a:prstGeom>
        </p:spPr>
        <p:txBody>
          <a:bodyPr lIns="0" tIns="0" rIns="0" bIns="0" rtlCol="0" anchor="t">
            <a:spAutoFit/>
          </a:bodyPr>
          <a:lstStyle/>
          <a:p>
            <a:pPr algn="l">
              <a:lnSpc>
                <a:spcPts val="3600"/>
              </a:lnSpc>
            </a:pPr>
            <a:r>
              <a:rPr lang="en-US" sz="3000" spc="90">
                <a:solidFill>
                  <a:srgbClr val="FFFFFF"/>
                </a:solidFill>
                <a:latin typeface="Muli"/>
                <a:ea typeface="Muli"/>
                <a:cs typeface="Muli"/>
                <a:sym typeface="Muli"/>
              </a:rPr>
              <a:t>Định lượng</a:t>
            </a:r>
          </a:p>
        </p:txBody>
      </p:sp>
      <p:sp>
        <p:nvSpPr>
          <p:cNvPr id="25" name="TextBox 25"/>
          <p:cNvSpPr txBox="1"/>
          <p:nvPr/>
        </p:nvSpPr>
        <p:spPr>
          <a:xfrm>
            <a:off x="4742126" y="7242293"/>
            <a:ext cx="4380469" cy="914400"/>
          </a:xfrm>
          <a:prstGeom prst="rect">
            <a:avLst/>
          </a:prstGeom>
        </p:spPr>
        <p:txBody>
          <a:bodyPr lIns="0" tIns="0" rIns="0" bIns="0" rtlCol="0" anchor="t">
            <a:spAutoFit/>
          </a:bodyPr>
          <a:lstStyle/>
          <a:p>
            <a:pPr algn="l">
              <a:lnSpc>
                <a:spcPts val="3600"/>
              </a:lnSpc>
            </a:pPr>
            <a:r>
              <a:rPr lang="en-US" sz="3000" spc="90">
                <a:solidFill>
                  <a:srgbClr val="FFFFFF"/>
                </a:solidFill>
                <a:latin typeface="Muli"/>
                <a:ea typeface="Muli"/>
                <a:cs typeface="Muli"/>
                <a:sym typeface="Muli"/>
              </a:rPr>
              <a:t>"Có", "Không", "Mèo", "Chó",...</a:t>
            </a:r>
          </a:p>
        </p:txBody>
      </p:sp>
      <p:sp>
        <p:nvSpPr>
          <p:cNvPr id="26" name="TextBox 26"/>
          <p:cNvSpPr txBox="1"/>
          <p:nvPr/>
        </p:nvSpPr>
        <p:spPr>
          <a:xfrm>
            <a:off x="11562635" y="7242293"/>
            <a:ext cx="4380469" cy="914400"/>
          </a:xfrm>
          <a:prstGeom prst="rect">
            <a:avLst/>
          </a:prstGeom>
        </p:spPr>
        <p:txBody>
          <a:bodyPr lIns="0" tIns="0" rIns="0" bIns="0" rtlCol="0" anchor="t">
            <a:spAutoFit/>
          </a:bodyPr>
          <a:lstStyle/>
          <a:p>
            <a:pPr algn="l">
              <a:lnSpc>
                <a:spcPts val="3600"/>
              </a:lnSpc>
            </a:pPr>
            <a:r>
              <a:rPr lang="en-US" sz="3000" spc="90">
                <a:solidFill>
                  <a:srgbClr val="FFFFFF"/>
                </a:solidFill>
                <a:latin typeface="Muli"/>
                <a:ea typeface="Muli"/>
                <a:cs typeface="Muli"/>
                <a:sym typeface="Muli"/>
              </a:rPr>
              <a:t>25.5 độ C, 150 triệu, 98.7 điểm, 0.001 giây</a:t>
            </a:r>
          </a:p>
        </p:txBody>
      </p:sp>
      <p:sp>
        <p:nvSpPr>
          <p:cNvPr id="27" name="TextBox 27"/>
          <p:cNvSpPr txBox="1"/>
          <p:nvPr/>
        </p:nvSpPr>
        <p:spPr>
          <a:xfrm>
            <a:off x="4698541" y="8632943"/>
            <a:ext cx="5179149" cy="914400"/>
          </a:xfrm>
          <a:prstGeom prst="rect">
            <a:avLst/>
          </a:prstGeom>
        </p:spPr>
        <p:txBody>
          <a:bodyPr lIns="0" tIns="0" rIns="0" bIns="0" rtlCol="0" anchor="t">
            <a:spAutoFit/>
          </a:bodyPr>
          <a:lstStyle/>
          <a:p>
            <a:pPr algn="l">
              <a:lnSpc>
                <a:spcPts val="3600"/>
              </a:lnSpc>
            </a:pPr>
            <a:r>
              <a:rPr lang="en-US" sz="3000" spc="90">
                <a:solidFill>
                  <a:srgbClr val="FFFFFF"/>
                </a:solidFill>
                <a:latin typeface="Muli"/>
                <a:ea typeface="Muli"/>
                <a:cs typeface="Muli"/>
                <a:sym typeface="Muli"/>
              </a:rPr>
              <a:t>Linear regression,logistic regression,...</a:t>
            </a:r>
          </a:p>
        </p:txBody>
      </p:sp>
      <p:sp>
        <p:nvSpPr>
          <p:cNvPr id="28" name="TextBox 28"/>
          <p:cNvSpPr txBox="1"/>
          <p:nvPr/>
        </p:nvSpPr>
        <p:spPr>
          <a:xfrm>
            <a:off x="11562635" y="8632943"/>
            <a:ext cx="5179149" cy="457200"/>
          </a:xfrm>
          <a:prstGeom prst="rect">
            <a:avLst/>
          </a:prstGeom>
        </p:spPr>
        <p:txBody>
          <a:bodyPr lIns="0" tIns="0" rIns="0" bIns="0" rtlCol="0" anchor="t">
            <a:spAutoFit/>
          </a:bodyPr>
          <a:lstStyle/>
          <a:p>
            <a:pPr algn="l">
              <a:lnSpc>
                <a:spcPts val="3600"/>
              </a:lnSpc>
            </a:pPr>
            <a:r>
              <a:rPr lang="en-US" sz="3000" spc="90">
                <a:solidFill>
                  <a:srgbClr val="FFFFFF"/>
                </a:solidFill>
                <a:latin typeface="Muli"/>
                <a:ea typeface="Muli"/>
                <a:cs typeface="Muli"/>
                <a:sym typeface="Muli"/>
              </a:rPr>
              <a:t>K-Means,DBSCAN,PCA,...</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38225"/>
            <a:ext cx="7031429" cy="2543175"/>
          </a:xfrm>
          <a:prstGeom prst="rect">
            <a:avLst/>
          </a:prstGeom>
        </p:spPr>
        <p:txBody>
          <a:bodyPr lIns="0" tIns="0" rIns="0" bIns="0" rtlCol="0" anchor="t">
            <a:spAutoFit/>
          </a:bodyPr>
          <a:lstStyle/>
          <a:p>
            <a:pPr algn="l">
              <a:lnSpc>
                <a:spcPts val="10080"/>
              </a:lnSpc>
            </a:pPr>
            <a:r>
              <a:rPr lang="en-US" sz="8400" b="1">
                <a:solidFill>
                  <a:srgbClr val="1836B2"/>
                </a:solidFill>
                <a:latin typeface="Muli Bold"/>
                <a:ea typeface="Muli Bold"/>
                <a:cs typeface="Muli Bold"/>
                <a:sym typeface="Muli Bold"/>
              </a:rPr>
              <a:t>Unsupervised learning</a:t>
            </a:r>
          </a:p>
        </p:txBody>
      </p:sp>
      <p:sp>
        <p:nvSpPr>
          <p:cNvPr id="3" name="TextBox 3"/>
          <p:cNvSpPr txBox="1"/>
          <p:nvPr/>
        </p:nvSpPr>
        <p:spPr>
          <a:xfrm>
            <a:off x="7428237" y="2933850"/>
            <a:ext cx="6402407" cy="946149"/>
          </a:xfrm>
          <a:prstGeom prst="rect">
            <a:avLst/>
          </a:prstGeom>
        </p:spPr>
        <p:txBody>
          <a:bodyPr lIns="0" tIns="0" rIns="0" bIns="0" rtlCol="0" anchor="t">
            <a:spAutoFit/>
          </a:bodyPr>
          <a:lstStyle/>
          <a:p>
            <a:pPr algn="l">
              <a:lnSpc>
                <a:spcPts val="7700"/>
              </a:lnSpc>
              <a:spcBef>
                <a:spcPct val="0"/>
              </a:spcBef>
            </a:pPr>
            <a:r>
              <a:rPr lang="en-US" sz="5500" b="1" spc="-110">
                <a:solidFill>
                  <a:srgbClr val="A066CB"/>
                </a:solidFill>
                <a:latin typeface="Muli Ultra-Bold"/>
                <a:ea typeface="Muli Ultra-Bold"/>
                <a:cs typeface="Muli Ultra-Bold"/>
                <a:sym typeface="Muli Ultra-Bold"/>
              </a:rPr>
              <a:t>Định nghĩa</a:t>
            </a:r>
          </a:p>
        </p:txBody>
      </p:sp>
      <p:sp>
        <p:nvSpPr>
          <p:cNvPr id="4" name="AutoShape 4"/>
          <p:cNvSpPr/>
          <p:nvPr/>
        </p:nvSpPr>
        <p:spPr>
          <a:xfrm flipH="1">
            <a:off x="7426779" y="4589612"/>
            <a:ext cx="9155319" cy="68901"/>
          </a:xfrm>
          <a:prstGeom prst="line">
            <a:avLst/>
          </a:prstGeom>
          <a:ln w="28575" cap="rnd">
            <a:solidFill>
              <a:srgbClr val="1836B2"/>
            </a:solidFill>
            <a:prstDash val="solid"/>
            <a:headEnd type="none" w="sm" len="sm"/>
            <a:tailEnd type="none" w="sm" len="sm"/>
          </a:ln>
        </p:spPr>
        <p:txBody>
          <a:bodyPr/>
          <a:lstStyle/>
          <a:p>
            <a:endParaRPr lang="en-US"/>
          </a:p>
        </p:txBody>
      </p:sp>
      <p:sp>
        <p:nvSpPr>
          <p:cNvPr id="5" name="TextBox 5"/>
          <p:cNvSpPr txBox="1"/>
          <p:nvPr/>
        </p:nvSpPr>
        <p:spPr>
          <a:xfrm>
            <a:off x="7428237" y="5272875"/>
            <a:ext cx="9355634" cy="910589"/>
          </a:xfrm>
          <a:prstGeom prst="rect">
            <a:avLst/>
          </a:prstGeom>
        </p:spPr>
        <p:txBody>
          <a:bodyPr lIns="0" tIns="0" rIns="0" bIns="0" rtlCol="0" anchor="t">
            <a:spAutoFit/>
          </a:bodyPr>
          <a:lstStyle/>
          <a:p>
            <a:pPr algn="l">
              <a:lnSpc>
                <a:spcPts val="7560"/>
              </a:lnSpc>
              <a:spcBef>
                <a:spcPct val="0"/>
              </a:spcBef>
            </a:pPr>
            <a:r>
              <a:rPr lang="en-US" sz="5400" b="1" spc="-108">
                <a:solidFill>
                  <a:srgbClr val="A066CB"/>
                </a:solidFill>
                <a:latin typeface="Muli Ultra-Bold"/>
                <a:ea typeface="Muli Ultra-Bold"/>
                <a:cs typeface="Muli Ultra-Bold"/>
                <a:sym typeface="Muli Ultra-Bold"/>
              </a:rPr>
              <a:t>Mục tiêu và ứng dụng</a:t>
            </a:r>
          </a:p>
        </p:txBody>
      </p:sp>
      <p:sp>
        <p:nvSpPr>
          <p:cNvPr id="6" name="AutoShape 6"/>
          <p:cNvSpPr/>
          <p:nvPr/>
        </p:nvSpPr>
        <p:spPr>
          <a:xfrm flipH="1">
            <a:off x="7428237" y="6922071"/>
            <a:ext cx="9153861" cy="0"/>
          </a:xfrm>
          <a:prstGeom prst="line">
            <a:avLst/>
          </a:prstGeom>
          <a:ln w="28575" cap="rnd">
            <a:solidFill>
              <a:srgbClr val="1836B2"/>
            </a:solidFill>
            <a:prstDash val="solid"/>
            <a:headEnd type="none" w="sm" len="sm"/>
            <a:tailEnd type="none" w="sm" len="sm"/>
          </a:ln>
        </p:spPr>
        <p:txBody>
          <a:bodyPr/>
          <a:lstStyle/>
          <a:p>
            <a:endParaRPr lang="en-US"/>
          </a:p>
        </p:txBody>
      </p:sp>
      <p:sp>
        <p:nvSpPr>
          <p:cNvPr id="7" name="TextBox 7"/>
          <p:cNvSpPr txBox="1"/>
          <p:nvPr/>
        </p:nvSpPr>
        <p:spPr>
          <a:xfrm>
            <a:off x="7428237" y="7396055"/>
            <a:ext cx="10859763" cy="1917699"/>
          </a:xfrm>
          <a:prstGeom prst="rect">
            <a:avLst/>
          </a:prstGeom>
        </p:spPr>
        <p:txBody>
          <a:bodyPr lIns="0" tIns="0" rIns="0" bIns="0" rtlCol="0" anchor="t">
            <a:spAutoFit/>
          </a:bodyPr>
          <a:lstStyle/>
          <a:p>
            <a:pPr algn="l">
              <a:lnSpc>
                <a:spcPts val="7700"/>
              </a:lnSpc>
              <a:spcBef>
                <a:spcPct val="0"/>
              </a:spcBef>
            </a:pPr>
            <a:r>
              <a:rPr lang="en-US" sz="5500" b="1" spc="-110">
                <a:solidFill>
                  <a:srgbClr val="A066CB"/>
                </a:solidFill>
                <a:latin typeface="Muli Ultra-Bold"/>
                <a:ea typeface="Muli Ultra-Bold"/>
                <a:cs typeface="Muli Ultra-Bold"/>
                <a:sym typeface="Muli Ultra-Bold"/>
              </a:rPr>
              <a:t>Phân biệt Clustering và Dimensionality Reduction</a:t>
            </a:r>
          </a:p>
        </p:txBody>
      </p:sp>
      <p:sp>
        <p:nvSpPr>
          <p:cNvPr id="8" name="Freeform 8"/>
          <p:cNvSpPr/>
          <p:nvPr/>
        </p:nvSpPr>
        <p:spPr>
          <a:xfrm flipH="1">
            <a:off x="-2528531" y="7510355"/>
            <a:ext cx="8370405" cy="4779226"/>
          </a:xfrm>
          <a:custGeom>
            <a:avLst/>
            <a:gdLst/>
            <a:ahLst/>
            <a:cxnLst/>
            <a:rect l="l" t="t" r="r" b="b"/>
            <a:pathLst>
              <a:path w="8370405" h="4779226">
                <a:moveTo>
                  <a:pt x="8370405" y="0"/>
                </a:moveTo>
                <a:lnTo>
                  <a:pt x="0" y="0"/>
                </a:lnTo>
                <a:lnTo>
                  <a:pt x="0" y="4779227"/>
                </a:lnTo>
                <a:lnTo>
                  <a:pt x="8370405" y="4779227"/>
                </a:lnTo>
                <a:lnTo>
                  <a:pt x="8370405" y="0"/>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A066CB"/>
        </a:solidFill>
        <a:effectLst/>
      </p:bgPr>
    </p:bg>
    <p:spTree>
      <p:nvGrpSpPr>
        <p:cNvPr id="1" name=""/>
        <p:cNvGrpSpPr/>
        <p:nvPr/>
      </p:nvGrpSpPr>
      <p:grpSpPr>
        <a:xfrm>
          <a:off x="0" y="0"/>
          <a:ext cx="0" cy="0"/>
          <a:chOff x="0" y="0"/>
          <a:chExt cx="0" cy="0"/>
        </a:xfrm>
      </p:grpSpPr>
      <p:sp>
        <p:nvSpPr>
          <p:cNvPr id="2" name="TextBox 2"/>
          <p:cNvSpPr txBox="1"/>
          <p:nvPr/>
        </p:nvSpPr>
        <p:spPr>
          <a:xfrm>
            <a:off x="8303806" y="1741632"/>
            <a:ext cx="7218583" cy="1192530"/>
          </a:xfrm>
          <a:prstGeom prst="rect">
            <a:avLst/>
          </a:prstGeom>
        </p:spPr>
        <p:txBody>
          <a:bodyPr lIns="0" tIns="0" rIns="0" bIns="0" rtlCol="0" anchor="t">
            <a:spAutoFit/>
          </a:bodyPr>
          <a:lstStyle/>
          <a:p>
            <a:pPr algn="l">
              <a:lnSpc>
                <a:spcPts val="9240"/>
              </a:lnSpc>
            </a:pPr>
            <a:r>
              <a:rPr lang="en-US" sz="8400" b="1">
                <a:solidFill>
                  <a:srgbClr val="FFFFFF"/>
                </a:solidFill>
                <a:latin typeface="Muli Bold"/>
                <a:ea typeface="Muli Bold"/>
                <a:cs typeface="Muli Bold"/>
                <a:sym typeface="Muli Bold"/>
              </a:rPr>
              <a:t>Định nghĩa</a:t>
            </a:r>
          </a:p>
        </p:txBody>
      </p:sp>
      <p:sp>
        <p:nvSpPr>
          <p:cNvPr id="3" name="TextBox 3"/>
          <p:cNvSpPr txBox="1"/>
          <p:nvPr/>
        </p:nvSpPr>
        <p:spPr>
          <a:xfrm>
            <a:off x="8303806" y="3220547"/>
            <a:ext cx="7218583" cy="2647950"/>
          </a:xfrm>
          <a:prstGeom prst="rect">
            <a:avLst/>
          </a:prstGeom>
        </p:spPr>
        <p:txBody>
          <a:bodyPr lIns="0" tIns="0" rIns="0" bIns="0" rtlCol="0" anchor="t">
            <a:spAutoFit/>
          </a:bodyPr>
          <a:lstStyle/>
          <a:p>
            <a:pPr algn="l">
              <a:lnSpc>
                <a:spcPts val="4200"/>
              </a:lnSpc>
            </a:pPr>
            <a:r>
              <a:rPr lang="en-US" sz="3000" spc="15">
                <a:solidFill>
                  <a:srgbClr val="FFFFFF"/>
                </a:solidFill>
                <a:latin typeface="Muli Light"/>
                <a:ea typeface="Muli Light"/>
                <a:cs typeface="Muli Light"/>
                <a:sym typeface="Muli Light"/>
              </a:rPr>
              <a:t>Unsupervised learning (học máy không giám sát) là một phần khác của Machine learning, trong đó mô hình tự tìm kiếm các mẫu và cấu trúc trong dữ liệu mà không cần nhãn có sẵn</a:t>
            </a:r>
          </a:p>
        </p:txBody>
      </p:sp>
      <p:grpSp>
        <p:nvGrpSpPr>
          <p:cNvPr id="4" name="Group 4"/>
          <p:cNvGrpSpPr>
            <a:grpSpLocks noChangeAspect="1"/>
          </p:cNvGrpSpPr>
          <p:nvPr/>
        </p:nvGrpSpPr>
        <p:grpSpPr>
          <a:xfrm>
            <a:off x="-4858654" y="-680491"/>
            <a:ext cx="11774707" cy="10196366"/>
            <a:chOff x="0" y="0"/>
            <a:chExt cx="4282440" cy="3708400"/>
          </a:xfrm>
        </p:grpSpPr>
        <p:sp>
          <p:nvSpPr>
            <p:cNvPr id="5" name="Freeform 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35263" b="-820"/>
              </a:stretch>
            </a:blipFill>
          </p:spPr>
          <p:txBody>
            <a:bodyPr/>
            <a:lstStyle/>
            <a:p>
              <a:endParaRPr lang="en-US"/>
            </a:p>
          </p:txBody>
        </p:sp>
      </p:grpSp>
      <p:grpSp>
        <p:nvGrpSpPr>
          <p:cNvPr id="6" name="Group 6"/>
          <p:cNvGrpSpPr/>
          <p:nvPr/>
        </p:nvGrpSpPr>
        <p:grpSpPr>
          <a:xfrm>
            <a:off x="3524297" y="9515874"/>
            <a:ext cx="15252699" cy="1542251"/>
            <a:chOff x="0" y="0"/>
            <a:chExt cx="53129492" cy="5372100"/>
          </a:xfrm>
        </p:grpSpPr>
        <p:sp>
          <p:nvSpPr>
            <p:cNvPr id="7" name="Freeform 7"/>
            <p:cNvSpPr/>
            <p:nvPr/>
          </p:nvSpPr>
          <p:spPr>
            <a:xfrm>
              <a:off x="0" y="0"/>
              <a:ext cx="53129495" cy="5372100"/>
            </a:xfrm>
            <a:custGeom>
              <a:avLst/>
              <a:gdLst/>
              <a:ahLst/>
              <a:cxnLst/>
              <a:rect l="l" t="t" r="r" b="b"/>
              <a:pathLst>
                <a:path w="53129495" h="5372100">
                  <a:moveTo>
                    <a:pt x="51578821" y="0"/>
                  </a:moveTo>
                  <a:lnTo>
                    <a:pt x="1550670" y="0"/>
                  </a:lnTo>
                  <a:lnTo>
                    <a:pt x="0" y="2686050"/>
                  </a:lnTo>
                  <a:lnTo>
                    <a:pt x="1550670" y="5372100"/>
                  </a:lnTo>
                  <a:lnTo>
                    <a:pt x="51578821" y="5372100"/>
                  </a:lnTo>
                  <a:lnTo>
                    <a:pt x="53129495" y="2686050"/>
                  </a:lnTo>
                  <a:lnTo>
                    <a:pt x="51578821" y="0"/>
                  </a:lnTo>
                  <a:close/>
                </a:path>
              </a:pathLst>
            </a:custGeom>
            <a:solidFill>
              <a:srgbClr val="FFFFFF"/>
            </a:solidFill>
          </p:spPr>
          <p:txBody>
            <a:bodyPr/>
            <a:lstStyle/>
            <a:p>
              <a:endParaRPr lang="en-US"/>
            </a:p>
          </p:txBody>
        </p:sp>
      </p:grpSp>
      <p:sp>
        <p:nvSpPr>
          <p:cNvPr id="8" name="Freeform 8"/>
          <p:cNvSpPr/>
          <p:nvPr/>
        </p:nvSpPr>
        <p:spPr>
          <a:xfrm>
            <a:off x="16160800" y="1028700"/>
            <a:ext cx="1098500" cy="627207"/>
          </a:xfrm>
          <a:custGeom>
            <a:avLst/>
            <a:gdLst/>
            <a:ahLst/>
            <a:cxnLst/>
            <a:rect l="l" t="t" r="r" b="b"/>
            <a:pathLst>
              <a:path w="1098500" h="627207">
                <a:moveTo>
                  <a:pt x="0" y="0"/>
                </a:moveTo>
                <a:lnTo>
                  <a:pt x="1098500" y="0"/>
                </a:lnTo>
                <a:lnTo>
                  <a:pt x="1098500" y="627207"/>
                </a:lnTo>
                <a:lnTo>
                  <a:pt x="0" y="627207"/>
                </a:lnTo>
                <a:lnTo>
                  <a:pt x="0" y="0"/>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12914" y="1412217"/>
            <a:ext cx="6758977" cy="2910840"/>
          </a:xfrm>
          <a:prstGeom prst="rect">
            <a:avLst/>
          </a:prstGeom>
        </p:spPr>
        <p:txBody>
          <a:bodyPr lIns="0" tIns="0" rIns="0" bIns="0" rtlCol="0" anchor="t">
            <a:spAutoFit/>
          </a:bodyPr>
          <a:lstStyle/>
          <a:p>
            <a:pPr algn="l">
              <a:lnSpc>
                <a:spcPts val="11760"/>
              </a:lnSpc>
              <a:spcBef>
                <a:spcPct val="0"/>
              </a:spcBef>
            </a:pPr>
            <a:r>
              <a:rPr lang="en-US" sz="8400" b="1" spc="-168">
                <a:solidFill>
                  <a:srgbClr val="1836B2"/>
                </a:solidFill>
                <a:latin typeface="Muli Bold"/>
                <a:ea typeface="Muli Bold"/>
                <a:cs typeface="Muli Bold"/>
                <a:sym typeface="Muli Bold"/>
              </a:rPr>
              <a:t>Mục tiêu và ứng dụng</a:t>
            </a:r>
          </a:p>
        </p:txBody>
      </p:sp>
      <p:grpSp>
        <p:nvGrpSpPr>
          <p:cNvPr id="3" name="Group 3"/>
          <p:cNvGrpSpPr/>
          <p:nvPr/>
        </p:nvGrpSpPr>
        <p:grpSpPr>
          <a:xfrm>
            <a:off x="5660818" y="5178479"/>
            <a:ext cx="5960207" cy="457200"/>
            <a:chOff x="0" y="0"/>
            <a:chExt cx="7946942" cy="609600"/>
          </a:xfrm>
        </p:grpSpPr>
        <p:sp>
          <p:nvSpPr>
            <p:cNvPr id="4" name="TextBox 4"/>
            <p:cNvSpPr txBox="1"/>
            <p:nvPr/>
          </p:nvSpPr>
          <p:spPr>
            <a:xfrm>
              <a:off x="1017020" y="-57150"/>
              <a:ext cx="6929922" cy="666750"/>
            </a:xfrm>
            <a:prstGeom prst="rect">
              <a:avLst/>
            </a:prstGeom>
          </p:spPr>
          <p:txBody>
            <a:bodyPr lIns="0" tIns="0" rIns="0" bIns="0" rtlCol="0" anchor="t">
              <a:spAutoFit/>
            </a:bodyPr>
            <a:lstStyle/>
            <a:p>
              <a:pPr algn="l">
                <a:lnSpc>
                  <a:spcPts val="4200"/>
                </a:lnSpc>
              </a:pPr>
              <a:r>
                <a:rPr lang="en-US" sz="3000" spc="15">
                  <a:solidFill>
                    <a:srgbClr val="000000"/>
                  </a:solidFill>
                  <a:latin typeface="Muli Light"/>
                  <a:ea typeface="Muli Light"/>
                  <a:cs typeface="Muli Light"/>
                  <a:sym typeface="Muli Light"/>
                </a:rPr>
                <a:t>Khám phá pattern ẩn</a:t>
              </a:r>
            </a:p>
          </p:txBody>
        </p:sp>
        <p:grpSp>
          <p:nvGrpSpPr>
            <p:cNvPr id="5" name="Group 5"/>
            <p:cNvGrpSpPr/>
            <p:nvPr/>
          </p:nvGrpSpPr>
          <p:grpSpPr>
            <a:xfrm rot="-10800000">
              <a:off x="0" y="107772"/>
              <a:ext cx="454982" cy="394057"/>
              <a:chOff x="0" y="0"/>
              <a:chExt cx="6202680" cy="5372100"/>
            </a:xfrm>
          </p:grpSpPr>
          <p:sp>
            <p:nvSpPr>
              <p:cNvPr id="6" name="Freeform 6"/>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txBody>
              <a:bodyPr/>
              <a:lstStyle/>
              <a:p>
                <a:endParaRPr lang="en-US"/>
              </a:p>
            </p:txBody>
          </p:sp>
        </p:grpSp>
      </p:grpSp>
      <p:grpSp>
        <p:nvGrpSpPr>
          <p:cNvPr id="7" name="Group 7"/>
          <p:cNvGrpSpPr/>
          <p:nvPr/>
        </p:nvGrpSpPr>
        <p:grpSpPr>
          <a:xfrm>
            <a:off x="5660818" y="6492929"/>
            <a:ext cx="5960207" cy="990600"/>
            <a:chOff x="0" y="0"/>
            <a:chExt cx="7946942" cy="1320800"/>
          </a:xfrm>
        </p:grpSpPr>
        <p:sp>
          <p:nvSpPr>
            <p:cNvPr id="8" name="TextBox 8"/>
            <p:cNvSpPr txBox="1"/>
            <p:nvPr/>
          </p:nvSpPr>
          <p:spPr>
            <a:xfrm>
              <a:off x="1017020" y="-57150"/>
              <a:ext cx="6929922" cy="1377950"/>
            </a:xfrm>
            <a:prstGeom prst="rect">
              <a:avLst/>
            </a:prstGeom>
          </p:spPr>
          <p:txBody>
            <a:bodyPr lIns="0" tIns="0" rIns="0" bIns="0" rtlCol="0" anchor="t">
              <a:spAutoFit/>
            </a:bodyPr>
            <a:lstStyle/>
            <a:p>
              <a:pPr algn="l">
                <a:lnSpc>
                  <a:spcPts val="4200"/>
                </a:lnSpc>
              </a:pPr>
              <a:r>
                <a:rPr lang="en-US" sz="3000" spc="15">
                  <a:solidFill>
                    <a:srgbClr val="000000"/>
                  </a:solidFill>
                  <a:latin typeface="Muli Light"/>
                  <a:ea typeface="Muli Light"/>
                  <a:cs typeface="Muli Light"/>
                  <a:sym typeface="Muli Light"/>
                </a:rPr>
                <a:t>Gom nhóm dữ liệu (Clustering)</a:t>
              </a:r>
            </a:p>
          </p:txBody>
        </p:sp>
        <p:grpSp>
          <p:nvGrpSpPr>
            <p:cNvPr id="9" name="Group 9"/>
            <p:cNvGrpSpPr/>
            <p:nvPr/>
          </p:nvGrpSpPr>
          <p:grpSpPr>
            <a:xfrm rot="-10800000">
              <a:off x="0" y="107772"/>
              <a:ext cx="454982" cy="394057"/>
              <a:chOff x="0" y="0"/>
              <a:chExt cx="6202680" cy="5372100"/>
            </a:xfrm>
          </p:grpSpPr>
          <p:sp>
            <p:nvSpPr>
              <p:cNvPr id="10" name="Freeform 10"/>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txBody>
              <a:bodyPr/>
              <a:lstStyle/>
              <a:p>
                <a:endParaRPr lang="en-US"/>
              </a:p>
            </p:txBody>
          </p:sp>
        </p:grpSp>
      </p:grpSp>
      <p:grpSp>
        <p:nvGrpSpPr>
          <p:cNvPr id="11" name="Group 11"/>
          <p:cNvGrpSpPr/>
          <p:nvPr/>
        </p:nvGrpSpPr>
        <p:grpSpPr>
          <a:xfrm>
            <a:off x="5660818" y="8025667"/>
            <a:ext cx="5960207" cy="990600"/>
            <a:chOff x="0" y="0"/>
            <a:chExt cx="7946942" cy="1320800"/>
          </a:xfrm>
        </p:grpSpPr>
        <p:sp>
          <p:nvSpPr>
            <p:cNvPr id="12" name="TextBox 12"/>
            <p:cNvSpPr txBox="1"/>
            <p:nvPr/>
          </p:nvSpPr>
          <p:spPr>
            <a:xfrm>
              <a:off x="1017020" y="-57150"/>
              <a:ext cx="6929922" cy="1377950"/>
            </a:xfrm>
            <a:prstGeom prst="rect">
              <a:avLst/>
            </a:prstGeom>
          </p:spPr>
          <p:txBody>
            <a:bodyPr lIns="0" tIns="0" rIns="0" bIns="0" rtlCol="0" anchor="t">
              <a:spAutoFit/>
            </a:bodyPr>
            <a:lstStyle/>
            <a:p>
              <a:pPr algn="l">
                <a:lnSpc>
                  <a:spcPts val="4200"/>
                </a:lnSpc>
              </a:pPr>
              <a:r>
                <a:rPr lang="en-US" sz="3000" spc="15">
                  <a:solidFill>
                    <a:srgbClr val="000000"/>
                  </a:solidFill>
                  <a:latin typeface="Muli Light"/>
                  <a:ea typeface="Muli Light"/>
                  <a:cs typeface="Muli Light"/>
                  <a:sym typeface="Muli Light"/>
                </a:rPr>
                <a:t>Giảm chiều(Dimensionality Reduction)</a:t>
              </a:r>
            </a:p>
          </p:txBody>
        </p:sp>
        <p:grpSp>
          <p:nvGrpSpPr>
            <p:cNvPr id="13" name="Group 13"/>
            <p:cNvGrpSpPr/>
            <p:nvPr/>
          </p:nvGrpSpPr>
          <p:grpSpPr>
            <a:xfrm rot="-10800000">
              <a:off x="0" y="107772"/>
              <a:ext cx="454982" cy="394057"/>
              <a:chOff x="0" y="0"/>
              <a:chExt cx="6202680" cy="5372100"/>
            </a:xfrm>
          </p:grpSpPr>
          <p:sp>
            <p:nvSpPr>
              <p:cNvPr id="14" name="Freeform 14"/>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txBody>
              <a:bodyPr/>
              <a:lstStyle/>
              <a:p>
                <a:endParaRPr lang="en-US"/>
              </a:p>
            </p:txBody>
          </p:sp>
        </p:grpSp>
      </p:grpSp>
      <p:grpSp>
        <p:nvGrpSpPr>
          <p:cNvPr id="15" name="Group 15"/>
          <p:cNvGrpSpPr/>
          <p:nvPr/>
        </p:nvGrpSpPr>
        <p:grpSpPr>
          <a:xfrm>
            <a:off x="680652" y="9515874"/>
            <a:ext cx="16926697" cy="1542251"/>
            <a:chOff x="0" y="0"/>
            <a:chExt cx="58960502" cy="5372100"/>
          </a:xfrm>
        </p:grpSpPr>
        <p:sp>
          <p:nvSpPr>
            <p:cNvPr id="16" name="Freeform 16"/>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txBody>
            <a:bodyPr/>
            <a:lstStyle/>
            <a:p>
              <a:endParaRPr lang="en-US"/>
            </a:p>
          </p:txBody>
        </p:sp>
      </p:grpSp>
      <p:sp>
        <p:nvSpPr>
          <p:cNvPr id="17" name="Freeform 17"/>
          <p:cNvSpPr/>
          <p:nvPr/>
        </p:nvSpPr>
        <p:spPr>
          <a:xfrm>
            <a:off x="12038446" y="-2389613"/>
            <a:ext cx="8370405" cy="4779226"/>
          </a:xfrm>
          <a:custGeom>
            <a:avLst/>
            <a:gdLst/>
            <a:ahLst/>
            <a:cxnLst/>
            <a:rect l="l" t="t" r="r" b="b"/>
            <a:pathLst>
              <a:path w="8370405" h="4779226">
                <a:moveTo>
                  <a:pt x="0" y="0"/>
                </a:moveTo>
                <a:lnTo>
                  <a:pt x="8370405" y="0"/>
                </a:lnTo>
                <a:lnTo>
                  <a:pt x="8370405" y="4779226"/>
                </a:lnTo>
                <a:lnTo>
                  <a:pt x="0" y="4779226"/>
                </a:lnTo>
                <a:lnTo>
                  <a:pt x="0" y="0"/>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094447" y="2868930"/>
            <a:ext cx="14099106" cy="4396740"/>
          </a:xfrm>
          <a:prstGeom prst="rect">
            <a:avLst/>
          </a:prstGeom>
        </p:spPr>
        <p:txBody>
          <a:bodyPr lIns="0" tIns="0" rIns="0" bIns="0" rtlCol="0" anchor="t">
            <a:spAutoFit/>
          </a:bodyPr>
          <a:lstStyle/>
          <a:p>
            <a:pPr algn="l">
              <a:lnSpc>
                <a:spcPts val="11760"/>
              </a:lnSpc>
              <a:spcBef>
                <a:spcPct val="0"/>
              </a:spcBef>
            </a:pPr>
            <a:r>
              <a:rPr lang="en-US" sz="8400" b="1" spc="-168">
                <a:solidFill>
                  <a:srgbClr val="1836B2"/>
                </a:solidFill>
                <a:latin typeface="Muli Bold"/>
                <a:ea typeface="Muli Bold"/>
                <a:cs typeface="Muli Bold"/>
                <a:sym typeface="Muli Bold"/>
              </a:rPr>
              <a:t>Phân biệt giữa Clustering và Dimensionality Reduction</a:t>
            </a:r>
          </a:p>
          <a:p>
            <a:pPr algn="l">
              <a:lnSpc>
                <a:spcPts val="11760"/>
              </a:lnSpc>
              <a:spcBef>
                <a:spcPct val="0"/>
              </a:spcBef>
            </a:pPr>
            <a:endParaRPr lang="en-US" sz="8400" b="1" spc="-168">
              <a:solidFill>
                <a:srgbClr val="1836B2"/>
              </a:solidFill>
              <a:latin typeface="Muli Bold"/>
              <a:ea typeface="Muli Bold"/>
              <a:cs typeface="Muli Bold"/>
              <a:sym typeface="Muli Bold"/>
            </a:endParaRPr>
          </a:p>
        </p:txBody>
      </p:sp>
      <p:sp>
        <p:nvSpPr>
          <p:cNvPr id="3" name="Freeform 3"/>
          <p:cNvSpPr/>
          <p:nvPr/>
        </p:nvSpPr>
        <p:spPr>
          <a:xfrm flipH="1">
            <a:off x="-2053973" y="6868687"/>
            <a:ext cx="8370405" cy="4779226"/>
          </a:xfrm>
          <a:custGeom>
            <a:avLst/>
            <a:gdLst/>
            <a:ahLst/>
            <a:cxnLst/>
            <a:rect l="l" t="t" r="r" b="b"/>
            <a:pathLst>
              <a:path w="8370405" h="4779226">
                <a:moveTo>
                  <a:pt x="8370405" y="0"/>
                </a:moveTo>
                <a:lnTo>
                  <a:pt x="0" y="0"/>
                </a:lnTo>
                <a:lnTo>
                  <a:pt x="0" y="4779226"/>
                </a:lnTo>
                <a:lnTo>
                  <a:pt x="8370405" y="4779226"/>
                </a:lnTo>
                <a:lnTo>
                  <a:pt x="8370405" y="0"/>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131229" y="379829"/>
            <a:ext cx="16702803" cy="738497"/>
          </a:xfrm>
          <a:prstGeom prst="rect">
            <a:avLst/>
          </a:prstGeom>
        </p:spPr>
        <p:txBody>
          <a:bodyPr lIns="0" tIns="0" rIns="0" bIns="0" rtlCol="0" anchor="t">
            <a:spAutoFit/>
          </a:bodyPr>
          <a:lstStyle/>
          <a:p>
            <a:pPr algn="l">
              <a:lnSpc>
                <a:spcPts val="6020"/>
              </a:lnSpc>
              <a:spcBef>
                <a:spcPct val="0"/>
              </a:spcBef>
            </a:pPr>
            <a:r>
              <a:rPr lang="en-US" sz="4300" b="1" spc="-86">
                <a:solidFill>
                  <a:srgbClr val="1836B2"/>
                </a:solidFill>
                <a:latin typeface="Muli Bold"/>
                <a:ea typeface="Muli Bold"/>
                <a:cs typeface="Muli Bold"/>
                <a:sym typeface="Muli Bold"/>
              </a:rPr>
              <a:t>Phân biệt giữa Clustering và Dimensionality Reduction</a:t>
            </a:r>
          </a:p>
        </p:txBody>
      </p:sp>
      <p:sp>
        <p:nvSpPr>
          <p:cNvPr id="3" name="Freeform 3"/>
          <p:cNvSpPr/>
          <p:nvPr/>
        </p:nvSpPr>
        <p:spPr>
          <a:xfrm flipH="1">
            <a:off x="-2053973" y="8277413"/>
            <a:ext cx="5903142" cy="3370500"/>
          </a:xfrm>
          <a:custGeom>
            <a:avLst/>
            <a:gdLst/>
            <a:ahLst/>
            <a:cxnLst/>
            <a:rect l="l" t="t" r="r" b="b"/>
            <a:pathLst>
              <a:path w="5903142" h="3370500">
                <a:moveTo>
                  <a:pt x="5903142" y="0"/>
                </a:moveTo>
                <a:lnTo>
                  <a:pt x="0" y="0"/>
                </a:lnTo>
                <a:lnTo>
                  <a:pt x="0" y="3370500"/>
                </a:lnTo>
                <a:lnTo>
                  <a:pt x="5903142" y="3370500"/>
                </a:lnTo>
                <a:lnTo>
                  <a:pt x="5903142" y="0"/>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en-US"/>
          </a:p>
        </p:txBody>
      </p:sp>
      <p:sp>
        <p:nvSpPr>
          <p:cNvPr id="4" name="AutoShape 4"/>
          <p:cNvSpPr/>
          <p:nvPr/>
        </p:nvSpPr>
        <p:spPr>
          <a:xfrm>
            <a:off x="11221219" y="2420368"/>
            <a:ext cx="0" cy="5374088"/>
          </a:xfrm>
          <a:prstGeom prst="line">
            <a:avLst/>
          </a:prstGeom>
          <a:ln w="38100" cap="flat">
            <a:solidFill>
              <a:srgbClr val="1836B2"/>
            </a:solidFill>
            <a:prstDash val="sysDash"/>
            <a:headEnd type="none" w="sm" len="sm"/>
            <a:tailEnd type="none" w="sm" len="sm"/>
          </a:ln>
        </p:spPr>
        <p:txBody>
          <a:bodyPr/>
          <a:lstStyle/>
          <a:p>
            <a:endParaRPr lang="en-US"/>
          </a:p>
        </p:txBody>
      </p:sp>
      <p:sp>
        <p:nvSpPr>
          <p:cNvPr id="5" name="AutoShape 5"/>
          <p:cNvSpPr/>
          <p:nvPr/>
        </p:nvSpPr>
        <p:spPr>
          <a:xfrm flipH="1">
            <a:off x="5317054" y="2515521"/>
            <a:ext cx="17893" cy="5278935"/>
          </a:xfrm>
          <a:prstGeom prst="line">
            <a:avLst/>
          </a:prstGeom>
          <a:ln w="38100" cap="flat">
            <a:solidFill>
              <a:srgbClr val="1836B2"/>
            </a:solidFill>
            <a:prstDash val="sysDash"/>
            <a:headEnd type="none" w="sm" len="sm"/>
            <a:tailEnd type="none" w="sm" len="sm"/>
          </a:ln>
        </p:spPr>
        <p:txBody>
          <a:bodyPr/>
          <a:lstStyle/>
          <a:p>
            <a:endParaRPr lang="en-US"/>
          </a:p>
        </p:txBody>
      </p:sp>
      <p:sp>
        <p:nvSpPr>
          <p:cNvPr id="6" name="AutoShape 6"/>
          <p:cNvSpPr/>
          <p:nvPr/>
        </p:nvSpPr>
        <p:spPr>
          <a:xfrm>
            <a:off x="642373" y="3414602"/>
            <a:ext cx="17447620" cy="0"/>
          </a:xfrm>
          <a:prstGeom prst="line">
            <a:avLst/>
          </a:prstGeom>
          <a:ln w="38100" cap="flat">
            <a:solidFill>
              <a:srgbClr val="1836B2"/>
            </a:solidFill>
            <a:prstDash val="sysDash"/>
            <a:headEnd type="none" w="sm" len="sm"/>
            <a:tailEnd type="none" w="sm" len="sm"/>
          </a:ln>
        </p:spPr>
        <p:txBody>
          <a:bodyPr/>
          <a:lstStyle/>
          <a:p>
            <a:endParaRPr lang="en-US"/>
          </a:p>
        </p:txBody>
      </p:sp>
      <p:sp>
        <p:nvSpPr>
          <p:cNvPr id="7" name="AutoShape 7"/>
          <p:cNvSpPr/>
          <p:nvPr/>
        </p:nvSpPr>
        <p:spPr>
          <a:xfrm>
            <a:off x="642373" y="4589313"/>
            <a:ext cx="17447620" cy="0"/>
          </a:xfrm>
          <a:prstGeom prst="line">
            <a:avLst/>
          </a:prstGeom>
          <a:ln w="38100" cap="flat">
            <a:solidFill>
              <a:srgbClr val="1836B2"/>
            </a:solidFill>
            <a:prstDash val="sysDash"/>
            <a:headEnd type="none" w="sm" len="sm"/>
            <a:tailEnd type="none" w="sm" len="sm"/>
          </a:ln>
        </p:spPr>
        <p:txBody>
          <a:bodyPr/>
          <a:lstStyle/>
          <a:p>
            <a:endParaRPr lang="en-US"/>
          </a:p>
        </p:txBody>
      </p:sp>
      <p:sp>
        <p:nvSpPr>
          <p:cNvPr id="8" name="AutoShape 8"/>
          <p:cNvSpPr/>
          <p:nvPr/>
        </p:nvSpPr>
        <p:spPr>
          <a:xfrm>
            <a:off x="642373" y="5759645"/>
            <a:ext cx="17447620" cy="0"/>
          </a:xfrm>
          <a:prstGeom prst="line">
            <a:avLst/>
          </a:prstGeom>
          <a:ln w="38100" cap="flat">
            <a:solidFill>
              <a:srgbClr val="1836B2"/>
            </a:solidFill>
            <a:prstDash val="sysDash"/>
            <a:headEnd type="none" w="sm" len="sm"/>
            <a:tailEnd type="none" w="sm" len="sm"/>
          </a:ln>
        </p:spPr>
        <p:txBody>
          <a:bodyPr/>
          <a:lstStyle/>
          <a:p>
            <a:endParaRPr lang="en-US"/>
          </a:p>
        </p:txBody>
      </p:sp>
      <p:sp>
        <p:nvSpPr>
          <p:cNvPr id="9" name="TextBox 9"/>
          <p:cNvSpPr txBox="1"/>
          <p:nvPr/>
        </p:nvSpPr>
        <p:spPr>
          <a:xfrm>
            <a:off x="6947079" y="2429796"/>
            <a:ext cx="2662007" cy="738497"/>
          </a:xfrm>
          <a:prstGeom prst="rect">
            <a:avLst/>
          </a:prstGeom>
        </p:spPr>
        <p:txBody>
          <a:bodyPr lIns="0" tIns="0" rIns="0" bIns="0" rtlCol="0" anchor="t">
            <a:spAutoFit/>
          </a:bodyPr>
          <a:lstStyle/>
          <a:p>
            <a:pPr algn="l">
              <a:lnSpc>
                <a:spcPts val="6020"/>
              </a:lnSpc>
              <a:spcBef>
                <a:spcPct val="0"/>
              </a:spcBef>
            </a:pPr>
            <a:r>
              <a:rPr lang="en-US" sz="4300" b="1" spc="-86">
                <a:solidFill>
                  <a:srgbClr val="1836B2"/>
                </a:solidFill>
                <a:latin typeface="Muli Bold"/>
                <a:ea typeface="Muli Bold"/>
                <a:cs typeface="Muli Bold"/>
                <a:sym typeface="Muli Bold"/>
              </a:rPr>
              <a:t>Clustering</a:t>
            </a:r>
          </a:p>
        </p:txBody>
      </p:sp>
      <p:sp>
        <p:nvSpPr>
          <p:cNvPr id="10" name="TextBox 10"/>
          <p:cNvSpPr txBox="1"/>
          <p:nvPr/>
        </p:nvSpPr>
        <p:spPr>
          <a:xfrm>
            <a:off x="11477584" y="2429796"/>
            <a:ext cx="6612409" cy="738497"/>
          </a:xfrm>
          <a:prstGeom prst="rect">
            <a:avLst/>
          </a:prstGeom>
        </p:spPr>
        <p:txBody>
          <a:bodyPr lIns="0" tIns="0" rIns="0" bIns="0" rtlCol="0" anchor="t">
            <a:spAutoFit/>
          </a:bodyPr>
          <a:lstStyle/>
          <a:p>
            <a:pPr algn="l">
              <a:lnSpc>
                <a:spcPts val="6020"/>
              </a:lnSpc>
              <a:spcBef>
                <a:spcPct val="0"/>
              </a:spcBef>
            </a:pPr>
            <a:r>
              <a:rPr lang="en-US" sz="4300" b="1" spc="-86">
                <a:solidFill>
                  <a:srgbClr val="1836B2"/>
                </a:solidFill>
                <a:latin typeface="Muli Bold"/>
                <a:ea typeface="Muli Bold"/>
                <a:cs typeface="Muli Bold"/>
                <a:sym typeface="Muli Bold"/>
              </a:rPr>
              <a:t>Dimentionality Reduction</a:t>
            </a:r>
          </a:p>
        </p:txBody>
      </p:sp>
      <p:sp>
        <p:nvSpPr>
          <p:cNvPr id="11" name="AutoShape 11"/>
          <p:cNvSpPr/>
          <p:nvPr/>
        </p:nvSpPr>
        <p:spPr>
          <a:xfrm>
            <a:off x="642373" y="6931220"/>
            <a:ext cx="17447620" cy="0"/>
          </a:xfrm>
          <a:prstGeom prst="line">
            <a:avLst/>
          </a:prstGeom>
          <a:ln w="38100" cap="flat">
            <a:solidFill>
              <a:srgbClr val="1836B2"/>
            </a:solidFill>
            <a:prstDash val="sysDash"/>
            <a:headEnd type="none" w="sm" len="sm"/>
            <a:tailEnd type="none" w="sm" len="sm"/>
          </a:ln>
        </p:spPr>
        <p:txBody>
          <a:bodyPr/>
          <a:lstStyle/>
          <a:p>
            <a:endParaRPr lang="en-US"/>
          </a:p>
        </p:txBody>
      </p:sp>
      <p:sp>
        <p:nvSpPr>
          <p:cNvPr id="12" name="TextBox 12"/>
          <p:cNvSpPr txBox="1"/>
          <p:nvPr/>
        </p:nvSpPr>
        <p:spPr>
          <a:xfrm>
            <a:off x="11365769" y="3405697"/>
            <a:ext cx="6452673" cy="1135372"/>
          </a:xfrm>
          <a:prstGeom prst="rect">
            <a:avLst/>
          </a:prstGeom>
        </p:spPr>
        <p:txBody>
          <a:bodyPr lIns="0" tIns="0" rIns="0" bIns="0" rtlCol="0" anchor="t">
            <a:spAutoFit/>
          </a:bodyPr>
          <a:lstStyle/>
          <a:p>
            <a:pPr algn="l">
              <a:lnSpc>
                <a:spcPts val="4620"/>
              </a:lnSpc>
              <a:spcBef>
                <a:spcPct val="0"/>
              </a:spcBef>
            </a:pPr>
            <a:r>
              <a:rPr lang="en-US" sz="3300" spc="-66">
                <a:solidFill>
                  <a:srgbClr val="1836B2"/>
                </a:solidFill>
                <a:latin typeface="Muli"/>
                <a:ea typeface="Muli"/>
                <a:cs typeface="Muli"/>
                <a:sym typeface="Muli"/>
              </a:rPr>
              <a:t>Tập dữ liệu mới với số chiều thấp hơn</a:t>
            </a:r>
          </a:p>
        </p:txBody>
      </p:sp>
      <p:sp>
        <p:nvSpPr>
          <p:cNvPr id="13" name="TextBox 13"/>
          <p:cNvSpPr txBox="1"/>
          <p:nvPr/>
        </p:nvSpPr>
        <p:spPr>
          <a:xfrm>
            <a:off x="5462735" y="3441310"/>
            <a:ext cx="6452673" cy="554347"/>
          </a:xfrm>
          <a:prstGeom prst="rect">
            <a:avLst/>
          </a:prstGeom>
        </p:spPr>
        <p:txBody>
          <a:bodyPr lIns="0" tIns="0" rIns="0" bIns="0" rtlCol="0" anchor="t">
            <a:spAutoFit/>
          </a:bodyPr>
          <a:lstStyle/>
          <a:p>
            <a:pPr algn="l">
              <a:lnSpc>
                <a:spcPts val="4620"/>
              </a:lnSpc>
              <a:spcBef>
                <a:spcPct val="0"/>
              </a:spcBef>
            </a:pPr>
            <a:r>
              <a:rPr lang="en-US" sz="3300" spc="-66">
                <a:solidFill>
                  <a:srgbClr val="1836B2"/>
                </a:solidFill>
                <a:latin typeface="Muli"/>
                <a:ea typeface="Muli"/>
                <a:cs typeface="Muli"/>
                <a:sym typeface="Muli"/>
              </a:rPr>
              <a:t>Các nhóm (cụm) riêng biệt</a:t>
            </a:r>
          </a:p>
        </p:txBody>
      </p:sp>
      <p:sp>
        <p:nvSpPr>
          <p:cNvPr id="14" name="TextBox 14"/>
          <p:cNvSpPr txBox="1"/>
          <p:nvPr/>
        </p:nvSpPr>
        <p:spPr>
          <a:xfrm>
            <a:off x="897598" y="3640647"/>
            <a:ext cx="3748212" cy="646422"/>
          </a:xfrm>
          <a:prstGeom prst="rect">
            <a:avLst/>
          </a:prstGeom>
        </p:spPr>
        <p:txBody>
          <a:bodyPr lIns="0" tIns="0" rIns="0" bIns="0" rtlCol="0" anchor="t">
            <a:spAutoFit/>
          </a:bodyPr>
          <a:lstStyle/>
          <a:p>
            <a:pPr algn="l">
              <a:lnSpc>
                <a:spcPts val="5320"/>
              </a:lnSpc>
              <a:spcBef>
                <a:spcPct val="0"/>
              </a:spcBef>
            </a:pPr>
            <a:r>
              <a:rPr lang="en-US" sz="3800" b="1" spc="-76">
                <a:solidFill>
                  <a:srgbClr val="1836B2"/>
                </a:solidFill>
                <a:latin typeface="Muli Bold"/>
                <a:ea typeface="Muli Bold"/>
                <a:cs typeface="Muli Bold"/>
                <a:sym typeface="Muli Bold"/>
              </a:rPr>
              <a:t>Mục tiêu đầu ra</a:t>
            </a:r>
          </a:p>
        </p:txBody>
      </p:sp>
      <p:sp>
        <p:nvSpPr>
          <p:cNvPr id="15" name="TextBox 15"/>
          <p:cNvSpPr txBox="1"/>
          <p:nvPr/>
        </p:nvSpPr>
        <p:spPr>
          <a:xfrm>
            <a:off x="642373" y="4817913"/>
            <a:ext cx="4674681" cy="646422"/>
          </a:xfrm>
          <a:prstGeom prst="rect">
            <a:avLst/>
          </a:prstGeom>
        </p:spPr>
        <p:txBody>
          <a:bodyPr lIns="0" tIns="0" rIns="0" bIns="0" rtlCol="0" anchor="t">
            <a:spAutoFit/>
          </a:bodyPr>
          <a:lstStyle/>
          <a:p>
            <a:pPr algn="l">
              <a:lnSpc>
                <a:spcPts val="5320"/>
              </a:lnSpc>
              <a:spcBef>
                <a:spcPct val="0"/>
              </a:spcBef>
            </a:pPr>
            <a:r>
              <a:rPr lang="en-US" sz="3800" b="1" spc="-76">
                <a:solidFill>
                  <a:srgbClr val="1836B2"/>
                </a:solidFill>
                <a:latin typeface="Muli Bold"/>
                <a:ea typeface="Muli Bold"/>
                <a:cs typeface="Muli Bold"/>
                <a:sym typeface="Muli Bold"/>
              </a:rPr>
              <a:t>Bản chất hoạt động</a:t>
            </a:r>
          </a:p>
        </p:txBody>
      </p:sp>
      <p:sp>
        <p:nvSpPr>
          <p:cNvPr id="16" name="TextBox 16"/>
          <p:cNvSpPr txBox="1"/>
          <p:nvPr/>
        </p:nvSpPr>
        <p:spPr>
          <a:xfrm>
            <a:off x="897598" y="5978720"/>
            <a:ext cx="3748212" cy="646422"/>
          </a:xfrm>
          <a:prstGeom prst="rect">
            <a:avLst/>
          </a:prstGeom>
        </p:spPr>
        <p:txBody>
          <a:bodyPr lIns="0" tIns="0" rIns="0" bIns="0" rtlCol="0" anchor="t">
            <a:spAutoFit/>
          </a:bodyPr>
          <a:lstStyle/>
          <a:p>
            <a:pPr algn="l">
              <a:lnSpc>
                <a:spcPts val="5320"/>
              </a:lnSpc>
              <a:spcBef>
                <a:spcPct val="0"/>
              </a:spcBef>
            </a:pPr>
            <a:r>
              <a:rPr lang="en-US" sz="3800" b="1" spc="-76">
                <a:solidFill>
                  <a:srgbClr val="1836B2"/>
                </a:solidFill>
                <a:latin typeface="Muli Bold"/>
                <a:ea typeface="Muli Bold"/>
                <a:cs typeface="Muli Bold"/>
                <a:sym typeface="Muli Bold"/>
              </a:rPr>
              <a:t>Thuật toán</a:t>
            </a:r>
          </a:p>
        </p:txBody>
      </p:sp>
      <p:sp>
        <p:nvSpPr>
          <p:cNvPr id="17" name="TextBox 17"/>
          <p:cNvSpPr txBox="1"/>
          <p:nvPr/>
        </p:nvSpPr>
        <p:spPr>
          <a:xfrm>
            <a:off x="5462735" y="4836963"/>
            <a:ext cx="2123827" cy="554347"/>
          </a:xfrm>
          <a:prstGeom prst="rect">
            <a:avLst/>
          </a:prstGeom>
        </p:spPr>
        <p:txBody>
          <a:bodyPr lIns="0" tIns="0" rIns="0" bIns="0" rtlCol="0" anchor="t">
            <a:spAutoFit/>
          </a:bodyPr>
          <a:lstStyle/>
          <a:p>
            <a:pPr algn="l">
              <a:lnSpc>
                <a:spcPts val="4620"/>
              </a:lnSpc>
              <a:spcBef>
                <a:spcPct val="0"/>
              </a:spcBef>
            </a:pPr>
            <a:r>
              <a:rPr lang="en-US" sz="3300" spc="-66">
                <a:solidFill>
                  <a:srgbClr val="1836B2"/>
                </a:solidFill>
                <a:latin typeface="Muli"/>
                <a:ea typeface="Muli"/>
                <a:cs typeface="Muli"/>
                <a:sym typeface="Muli"/>
              </a:rPr>
              <a:t>Phân chia</a:t>
            </a:r>
          </a:p>
        </p:txBody>
      </p:sp>
      <p:sp>
        <p:nvSpPr>
          <p:cNvPr id="18" name="TextBox 18"/>
          <p:cNvSpPr txBox="1"/>
          <p:nvPr/>
        </p:nvSpPr>
        <p:spPr>
          <a:xfrm>
            <a:off x="11383144" y="4836963"/>
            <a:ext cx="2123827" cy="554347"/>
          </a:xfrm>
          <a:prstGeom prst="rect">
            <a:avLst/>
          </a:prstGeom>
        </p:spPr>
        <p:txBody>
          <a:bodyPr lIns="0" tIns="0" rIns="0" bIns="0" rtlCol="0" anchor="t">
            <a:spAutoFit/>
          </a:bodyPr>
          <a:lstStyle/>
          <a:p>
            <a:pPr algn="l">
              <a:lnSpc>
                <a:spcPts val="4620"/>
              </a:lnSpc>
              <a:spcBef>
                <a:spcPct val="0"/>
              </a:spcBef>
            </a:pPr>
            <a:r>
              <a:rPr lang="en-US" sz="3300" spc="-66">
                <a:solidFill>
                  <a:srgbClr val="1836B2"/>
                </a:solidFill>
                <a:latin typeface="Muli"/>
                <a:ea typeface="Muli"/>
                <a:cs typeface="Muli"/>
                <a:sym typeface="Muli"/>
              </a:rPr>
              <a:t>Biến đổi</a:t>
            </a:r>
          </a:p>
        </p:txBody>
      </p:sp>
      <p:sp>
        <p:nvSpPr>
          <p:cNvPr id="19" name="TextBox 19"/>
          <p:cNvSpPr txBox="1"/>
          <p:nvPr/>
        </p:nvSpPr>
        <p:spPr>
          <a:xfrm>
            <a:off x="5462735" y="6073970"/>
            <a:ext cx="3529504" cy="554347"/>
          </a:xfrm>
          <a:prstGeom prst="rect">
            <a:avLst/>
          </a:prstGeom>
        </p:spPr>
        <p:txBody>
          <a:bodyPr lIns="0" tIns="0" rIns="0" bIns="0" rtlCol="0" anchor="t">
            <a:spAutoFit/>
          </a:bodyPr>
          <a:lstStyle/>
          <a:p>
            <a:pPr algn="l">
              <a:lnSpc>
                <a:spcPts val="4620"/>
              </a:lnSpc>
              <a:spcBef>
                <a:spcPct val="0"/>
              </a:spcBef>
            </a:pPr>
            <a:r>
              <a:rPr lang="en-US" sz="3300" spc="-66">
                <a:solidFill>
                  <a:srgbClr val="1836B2"/>
                </a:solidFill>
                <a:latin typeface="Muli"/>
                <a:ea typeface="Muli"/>
                <a:cs typeface="Muli"/>
                <a:sym typeface="Muli"/>
              </a:rPr>
              <a:t>K-Means,DBSCAN</a:t>
            </a:r>
          </a:p>
        </p:txBody>
      </p:sp>
      <p:sp>
        <p:nvSpPr>
          <p:cNvPr id="20" name="TextBox 20"/>
          <p:cNvSpPr txBox="1"/>
          <p:nvPr/>
        </p:nvSpPr>
        <p:spPr>
          <a:xfrm>
            <a:off x="11383144" y="6073970"/>
            <a:ext cx="3529504" cy="554347"/>
          </a:xfrm>
          <a:prstGeom prst="rect">
            <a:avLst/>
          </a:prstGeom>
        </p:spPr>
        <p:txBody>
          <a:bodyPr lIns="0" tIns="0" rIns="0" bIns="0" rtlCol="0" anchor="t">
            <a:spAutoFit/>
          </a:bodyPr>
          <a:lstStyle/>
          <a:p>
            <a:pPr algn="l">
              <a:lnSpc>
                <a:spcPts val="4620"/>
              </a:lnSpc>
              <a:spcBef>
                <a:spcPct val="0"/>
              </a:spcBef>
            </a:pPr>
            <a:r>
              <a:rPr lang="en-US" sz="3300" spc="-66">
                <a:solidFill>
                  <a:srgbClr val="1836B2"/>
                </a:solidFill>
                <a:latin typeface="Muli"/>
                <a:ea typeface="Muli"/>
                <a:cs typeface="Muli"/>
                <a:sym typeface="Muli"/>
              </a:rPr>
              <a:t>PCA,t-SNE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259361" y="3891439"/>
            <a:ext cx="11769279" cy="3979735"/>
          </a:xfrm>
          <a:prstGeom prst="rect">
            <a:avLst/>
          </a:prstGeom>
        </p:spPr>
        <p:txBody>
          <a:bodyPr lIns="0" tIns="0" rIns="0" bIns="0" rtlCol="0" anchor="t">
            <a:spAutoFit/>
          </a:bodyPr>
          <a:lstStyle/>
          <a:p>
            <a:pPr algn="ctr">
              <a:lnSpc>
                <a:spcPts val="10594"/>
              </a:lnSpc>
            </a:pPr>
            <a:r>
              <a:rPr lang="en-US" sz="7567" b="1" spc="-151">
                <a:solidFill>
                  <a:srgbClr val="1836B2"/>
                </a:solidFill>
                <a:latin typeface="Muli Bold"/>
                <a:ea typeface="Muli Bold"/>
                <a:cs typeface="Muli Bold"/>
                <a:sym typeface="Muli Bold"/>
              </a:rPr>
              <a:t>Giới thiệu các thuật toán tiêu biểu</a:t>
            </a:r>
          </a:p>
          <a:p>
            <a:pPr algn="ctr">
              <a:lnSpc>
                <a:spcPts val="10594"/>
              </a:lnSpc>
            </a:pPr>
            <a:endParaRPr lang="en-US" sz="7567" b="1" spc="-151">
              <a:solidFill>
                <a:srgbClr val="1836B2"/>
              </a:solidFill>
              <a:latin typeface="Muli Bold"/>
              <a:ea typeface="Muli Bold"/>
              <a:cs typeface="Muli Bold"/>
              <a:sym typeface="Muli Bold"/>
            </a:endParaRPr>
          </a:p>
        </p:txBody>
      </p:sp>
      <p:sp>
        <p:nvSpPr>
          <p:cNvPr id="3" name="Freeform 3"/>
          <p:cNvSpPr/>
          <p:nvPr/>
        </p:nvSpPr>
        <p:spPr>
          <a:xfrm>
            <a:off x="12038446" y="-2389613"/>
            <a:ext cx="8370405" cy="4779226"/>
          </a:xfrm>
          <a:custGeom>
            <a:avLst/>
            <a:gdLst/>
            <a:ahLst/>
            <a:cxnLst/>
            <a:rect l="l" t="t" r="r" b="b"/>
            <a:pathLst>
              <a:path w="8370405" h="4779226">
                <a:moveTo>
                  <a:pt x="0" y="0"/>
                </a:moveTo>
                <a:lnTo>
                  <a:pt x="8370405" y="0"/>
                </a:lnTo>
                <a:lnTo>
                  <a:pt x="8370405" y="4779226"/>
                </a:lnTo>
                <a:lnTo>
                  <a:pt x="0" y="4779226"/>
                </a:lnTo>
                <a:lnTo>
                  <a:pt x="0" y="0"/>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en-US"/>
          </a:p>
        </p:txBody>
      </p:sp>
      <p:grpSp>
        <p:nvGrpSpPr>
          <p:cNvPr id="4" name="Group 4"/>
          <p:cNvGrpSpPr/>
          <p:nvPr/>
        </p:nvGrpSpPr>
        <p:grpSpPr>
          <a:xfrm>
            <a:off x="680652" y="9515874"/>
            <a:ext cx="16926697" cy="1542251"/>
            <a:chOff x="0" y="0"/>
            <a:chExt cx="58960502" cy="5372100"/>
          </a:xfrm>
        </p:grpSpPr>
        <p:sp>
          <p:nvSpPr>
            <p:cNvPr id="5" name="Freeform 5"/>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txBody>
            <a:bodyPr/>
            <a:lstStyle/>
            <a:p>
              <a:endParaRPr lang="en-US"/>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0652" y="9515874"/>
            <a:ext cx="16926697" cy="1542251"/>
            <a:chOff x="0" y="0"/>
            <a:chExt cx="58960502" cy="5372100"/>
          </a:xfrm>
        </p:grpSpPr>
        <p:sp>
          <p:nvSpPr>
            <p:cNvPr id="3" name="Freeform 3"/>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txBody>
            <a:bodyPr/>
            <a:lstStyle/>
            <a:p>
              <a:endParaRPr lang="en-US"/>
            </a:p>
          </p:txBody>
        </p:sp>
      </p:grpSp>
      <p:sp>
        <p:nvSpPr>
          <p:cNvPr id="4" name="Freeform 4"/>
          <p:cNvSpPr/>
          <p:nvPr/>
        </p:nvSpPr>
        <p:spPr>
          <a:xfrm>
            <a:off x="8286977" y="2811145"/>
            <a:ext cx="8972323" cy="5787148"/>
          </a:xfrm>
          <a:custGeom>
            <a:avLst/>
            <a:gdLst/>
            <a:ahLst/>
            <a:cxnLst/>
            <a:rect l="l" t="t" r="r" b="b"/>
            <a:pathLst>
              <a:path w="8972323" h="5787148">
                <a:moveTo>
                  <a:pt x="0" y="0"/>
                </a:moveTo>
                <a:lnTo>
                  <a:pt x="8972323" y="0"/>
                </a:lnTo>
                <a:lnTo>
                  <a:pt x="8972323" y="5787148"/>
                </a:lnTo>
                <a:lnTo>
                  <a:pt x="0" y="5787148"/>
                </a:lnTo>
                <a:lnTo>
                  <a:pt x="0" y="0"/>
                </a:lnTo>
                <a:close/>
              </a:path>
            </a:pathLst>
          </a:custGeom>
          <a:blipFill>
            <a:blip r:embed="rId2"/>
            <a:stretch>
              <a:fillRect/>
            </a:stretch>
          </a:blipFill>
        </p:spPr>
        <p:txBody>
          <a:bodyPr/>
          <a:lstStyle/>
          <a:p>
            <a:endParaRPr lang="en-US"/>
          </a:p>
        </p:txBody>
      </p:sp>
      <p:sp>
        <p:nvSpPr>
          <p:cNvPr id="5" name="Freeform 5"/>
          <p:cNvSpPr/>
          <p:nvPr/>
        </p:nvSpPr>
        <p:spPr>
          <a:xfrm>
            <a:off x="782849" y="2291407"/>
            <a:ext cx="7605581" cy="5704186"/>
          </a:xfrm>
          <a:custGeom>
            <a:avLst/>
            <a:gdLst/>
            <a:ahLst/>
            <a:cxnLst/>
            <a:rect l="l" t="t" r="r" b="b"/>
            <a:pathLst>
              <a:path w="7605581" h="5704186">
                <a:moveTo>
                  <a:pt x="0" y="0"/>
                </a:moveTo>
                <a:lnTo>
                  <a:pt x="7605581" y="0"/>
                </a:lnTo>
                <a:lnTo>
                  <a:pt x="7605581" y="5704186"/>
                </a:lnTo>
                <a:lnTo>
                  <a:pt x="0" y="5704186"/>
                </a:lnTo>
                <a:lnTo>
                  <a:pt x="0" y="0"/>
                </a:lnTo>
                <a:close/>
              </a:path>
            </a:pathLst>
          </a:custGeom>
          <a:blipFill>
            <a:blip r:embed="rId3"/>
            <a:stretch>
              <a:fillRect/>
            </a:stretch>
          </a:blipFill>
        </p:spPr>
        <p:txBody>
          <a:bodyPr/>
          <a:lstStyle/>
          <a:p>
            <a:endParaRPr lang="en-US"/>
          </a:p>
        </p:txBody>
      </p:sp>
      <p:sp>
        <p:nvSpPr>
          <p:cNvPr id="6" name="TextBox 6"/>
          <p:cNvSpPr txBox="1"/>
          <p:nvPr/>
        </p:nvSpPr>
        <p:spPr>
          <a:xfrm>
            <a:off x="1625244" y="923925"/>
            <a:ext cx="6763186" cy="969638"/>
          </a:xfrm>
          <a:prstGeom prst="rect">
            <a:avLst/>
          </a:prstGeom>
        </p:spPr>
        <p:txBody>
          <a:bodyPr lIns="0" tIns="0" rIns="0" bIns="0" rtlCol="0" anchor="t">
            <a:spAutoFit/>
          </a:bodyPr>
          <a:lstStyle/>
          <a:p>
            <a:pPr algn="l">
              <a:lnSpc>
                <a:spcPts val="7980"/>
              </a:lnSpc>
              <a:spcBef>
                <a:spcPct val="0"/>
              </a:spcBef>
            </a:pPr>
            <a:r>
              <a:rPr lang="en-US" sz="5700" b="1" spc="-114">
                <a:solidFill>
                  <a:srgbClr val="1836B2"/>
                </a:solidFill>
                <a:latin typeface="Muli Bold"/>
                <a:ea typeface="Muli Bold"/>
                <a:cs typeface="Muli Bold"/>
                <a:sym typeface="Muli Bold"/>
              </a:rPr>
              <a:t>1.Linear Regression</a:t>
            </a:r>
          </a:p>
        </p:txBody>
      </p:sp>
      <p:sp>
        <p:nvSpPr>
          <p:cNvPr id="7" name="TextBox 7"/>
          <p:cNvSpPr txBox="1"/>
          <p:nvPr/>
        </p:nvSpPr>
        <p:spPr>
          <a:xfrm>
            <a:off x="3350089" y="7966399"/>
            <a:ext cx="3313496" cy="854075"/>
          </a:xfrm>
          <a:prstGeom prst="rect">
            <a:avLst/>
          </a:prstGeom>
        </p:spPr>
        <p:txBody>
          <a:bodyPr wrap="square" lIns="0" tIns="0" rIns="0" bIns="0" rtlCol="0" anchor="t">
            <a:spAutoFit/>
          </a:bodyPr>
          <a:lstStyle/>
          <a:p>
            <a:pPr algn="ctr">
              <a:lnSpc>
                <a:spcPts val="7000"/>
              </a:lnSpc>
              <a:spcBef>
                <a:spcPct val="0"/>
              </a:spcBef>
            </a:pPr>
            <a:r>
              <a:rPr lang="en-US" sz="5000" b="1" spc="-100" dirty="0" err="1">
                <a:solidFill>
                  <a:srgbClr val="1836B2"/>
                </a:solidFill>
                <a:latin typeface="Muli Bold"/>
                <a:ea typeface="Muli Bold"/>
                <a:cs typeface="Muli Bold"/>
                <a:sym typeface="Muli Bold"/>
              </a:rPr>
              <a:t>Hồi</a:t>
            </a:r>
            <a:r>
              <a:rPr lang="en-US" sz="5000" b="1" spc="-100" dirty="0">
                <a:solidFill>
                  <a:srgbClr val="1836B2"/>
                </a:solidFill>
                <a:latin typeface="Muli Bold"/>
                <a:ea typeface="Muli Bold"/>
                <a:cs typeface="Muli Bold"/>
                <a:sym typeface="Muli Bold"/>
              </a:rPr>
              <a:t> </a:t>
            </a:r>
            <a:r>
              <a:rPr lang="en-US" sz="5000" b="1" spc="-100" dirty="0" err="1">
                <a:solidFill>
                  <a:srgbClr val="1836B2"/>
                </a:solidFill>
                <a:latin typeface="Muli Bold"/>
                <a:ea typeface="Muli Bold"/>
                <a:cs typeface="Muli Bold"/>
                <a:sym typeface="Muli Bold"/>
              </a:rPr>
              <a:t>quy</a:t>
            </a:r>
            <a:endParaRPr lang="en-US" sz="5000" b="1" spc="-100" dirty="0">
              <a:solidFill>
                <a:srgbClr val="1836B2"/>
              </a:solidFill>
              <a:latin typeface="Muli Bold"/>
              <a:ea typeface="Muli Bold"/>
              <a:cs typeface="Muli Bold"/>
              <a:sym typeface="Muli Bo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0652" y="9515874"/>
            <a:ext cx="16926697" cy="1542251"/>
            <a:chOff x="0" y="0"/>
            <a:chExt cx="58960502" cy="5372100"/>
          </a:xfrm>
        </p:grpSpPr>
        <p:sp>
          <p:nvSpPr>
            <p:cNvPr id="3" name="Freeform 3"/>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txBody>
            <a:bodyPr/>
            <a:lstStyle/>
            <a:p>
              <a:endParaRPr lang="en-US"/>
            </a:p>
          </p:txBody>
        </p:sp>
      </p:grpSp>
      <p:sp>
        <p:nvSpPr>
          <p:cNvPr id="4" name="Freeform 4"/>
          <p:cNvSpPr/>
          <p:nvPr/>
        </p:nvSpPr>
        <p:spPr>
          <a:xfrm>
            <a:off x="1028700" y="3376405"/>
            <a:ext cx="6577345" cy="4408503"/>
          </a:xfrm>
          <a:custGeom>
            <a:avLst/>
            <a:gdLst/>
            <a:ahLst/>
            <a:cxnLst/>
            <a:rect l="l" t="t" r="r" b="b"/>
            <a:pathLst>
              <a:path w="6577345" h="4408503">
                <a:moveTo>
                  <a:pt x="0" y="0"/>
                </a:moveTo>
                <a:lnTo>
                  <a:pt x="6577345" y="0"/>
                </a:lnTo>
                <a:lnTo>
                  <a:pt x="6577345" y="4408503"/>
                </a:lnTo>
                <a:lnTo>
                  <a:pt x="0" y="4408503"/>
                </a:lnTo>
                <a:lnTo>
                  <a:pt x="0" y="0"/>
                </a:lnTo>
                <a:close/>
              </a:path>
            </a:pathLst>
          </a:custGeom>
          <a:blipFill>
            <a:blip r:embed="rId2"/>
            <a:stretch>
              <a:fillRect/>
            </a:stretch>
          </a:blipFill>
        </p:spPr>
        <p:txBody>
          <a:bodyPr/>
          <a:lstStyle/>
          <a:p>
            <a:endParaRPr lang="en-US"/>
          </a:p>
        </p:txBody>
      </p:sp>
      <p:sp>
        <p:nvSpPr>
          <p:cNvPr id="5" name="Freeform 5"/>
          <p:cNvSpPr/>
          <p:nvPr/>
        </p:nvSpPr>
        <p:spPr>
          <a:xfrm>
            <a:off x="9144000" y="2564700"/>
            <a:ext cx="7894455" cy="5220208"/>
          </a:xfrm>
          <a:custGeom>
            <a:avLst/>
            <a:gdLst/>
            <a:ahLst/>
            <a:cxnLst/>
            <a:rect l="l" t="t" r="r" b="b"/>
            <a:pathLst>
              <a:path w="7894455" h="5220208">
                <a:moveTo>
                  <a:pt x="0" y="0"/>
                </a:moveTo>
                <a:lnTo>
                  <a:pt x="7894455" y="0"/>
                </a:lnTo>
                <a:lnTo>
                  <a:pt x="7894455" y="5220208"/>
                </a:lnTo>
                <a:lnTo>
                  <a:pt x="0" y="5220208"/>
                </a:lnTo>
                <a:lnTo>
                  <a:pt x="0" y="0"/>
                </a:lnTo>
                <a:close/>
              </a:path>
            </a:pathLst>
          </a:custGeom>
          <a:blipFill>
            <a:blip r:embed="rId3"/>
            <a:stretch>
              <a:fillRect/>
            </a:stretch>
          </a:blipFill>
        </p:spPr>
        <p:txBody>
          <a:bodyPr/>
          <a:lstStyle/>
          <a:p>
            <a:endParaRPr lang="en-US"/>
          </a:p>
        </p:txBody>
      </p:sp>
      <p:sp>
        <p:nvSpPr>
          <p:cNvPr id="6" name="TextBox 6"/>
          <p:cNvSpPr txBox="1"/>
          <p:nvPr/>
        </p:nvSpPr>
        <p:spPr>
          <a:xfrm>
            <a:off x="1625244" y="923925"/>
            <a:ext cx="8851538" cy="969638"/>
          </a:xfrm>
          <a:prstGeom prst="rect">
            <a:avLst/>
          </a:prstGeom>
        </p:spPr>
        <p:txBody>
          <a:bodyPr lIns="0" tIns="0" rIns="0" bIns="0" rtlCol="0" anchor="t">
            <a:spAutoFit/>
          </a:bodyPr>
          <a:lstStyle/>
          <a:p>
            <a:pPr algn="l">
              <a:lnSpc>
                <a:spcPts val="7980"/>
              </a:lnSpc>
              <a:spcBef>
                <a:spcPct val="0"/>
              </a:spcBef>
            </a:pPr>
            <a:r>
              <a:rPr lang="en-US" sz="5700" b="1" spc="-114">
                <a:solidFill>
                  <a:srgbClr val="1836B2"/>
                </a:solidFill>
                <a:latin typeface="Muli Bold"/>
                <a:ea typeface="Muli Bold"/>
                <a:cs typeface="Muli Bold"/>
                <a:sym typeface="Muli Bold"/>
              </a:rPr>
              <a:t>2.Logistic Regression</a:t>
            </a:r>
          </a:p>
        </p:txBody>
      </p:sp>
      <p:sp>
        <p:nvSpPr>
          <p:cNvPr id="7" name="TextBox 7"/>
          <p:cNvSpPr txBox="1"/>
          <p:nvPr/>
        </p:nvSpPr>
        <p:spPr>
          <a:xfrm>
            <a:off x="3309004" y="8175729"/>
            <a:ext cx="2742009" cy="854075"/>
          </a:xfrm>
          <a:prstGeom prst="rect">
            <a:avLst/>
          </a:prstGeom>
        </p:spPr>
        <p:txBody>
          <a:bodyPr lIns="0" tIns="0" rIns="0" bIns="0" rtlCol="0" anchor="t">
            <a:spAutoFit/>
          </a:bodyPr>
          <a:lstStyle/>
          <a:p>
            <a:pPr algn="ctr">
              <a:lnSpc>
                <a:spcPts val="7000"/>
              </a:lnSpc>
              <a:spcBef>
                <a:spcPct val="0"/>
              </a:spcBef>
            </a:pPr>
            <a:r>
              <a:rPr lang="en-US" sz="5000" b="1" spc="-100">
                <a:solidFill>
                  <a:srgbClr val="1836B2"/>
                </a:solidFill>
                <a:latin typeface="Muli Bold"/>
                <a:ea typeface="Muli Bold"/>
                <a:cs typeface="Muli Bold"/>
                <a:sym typeface="Muli Bold"/>
              </a:rPr>
              <a:t>Phân loại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0652" y="9515874"/>
            <a:ext cx="16926697" cy="1542251"/>
            <a:chOff x="0" y="0"/>
            <a:chExt cx="58960502" cy="5372100"/>
          </a:xfrm>
        </p:grpSpPr>
        <p:sp>
          <p:nvSpPr>
            <p:cNvPr id="3" name="Freeform 3"/>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txBody>
            <a:bodyPr/>
            <a:lstStyle/>
            <a:p>
              <a:endParaRPr lang="en-US"/>
            </a:p>
          </p:txBody>
        </p:sp>
      </p:grpSp>
      <p:sp>
        <p:nvSpPr>
          <p:cNvPr id="4" name="Freeform 4"/>
          <p:cNvSpPr/>
          <p:nvPr/>
        </p:nvSpPr>
        <p:spPr>
          <a:xfrm>
            <a:off x="1028700" y="2630952"/>
            <a:ext cx="6471129" cy="3906944"/>
          </a:xfrm>
          <a:custGeom>
            <a:avLst/>
            <a:gdLst/>
            <a:ahLst/>
            <a:cxnLst/>
            <a:rect l="l" t="t" r="r" b="b"/>
            <a:pathLst>
              <a:path w="6471129" h="3906944">
                <a:moveTo>
                  <a:pt x="0" y="0"/>
                </a:moveTo>
                <a:lnTo>
                  <a:pt x="6471129" y="0"/>
                </a:lnTo>
                <a:lnTo>
                  <a:pt x="6471129" y="3906944"/>
                </a:lnTo>
                <a:lnTo>
                  <a:pt x="0" y="3906944"/>
                </a:lnTo>
                <a:lnTo>
                  <a:pt x="0" y="0"/>
                </a:lnTo>
                <a:close/>
              </a:path>
            </a:pathLst>
          </a:custGeom>
          <a:blipFill>
            <a:blip r:embed="rId2"/>
            <a:stretch>
              <a:fillRect/>
            </a:stretch>
          </a:blipFill>
        </p:spPr>
        <p:txBody>
          <a:bodyPr/>
          <a:lstStyle/>
          <a:p>
            <a:endParaRPr lang="en-US"/>
          </a:p>
        </p:txBody>
      </p:sp>
      <p:sp>
        <p:nvSpPr>
          <p:cNvPr id="5" name="Freeform 5"/>
          <p:cNvSpPr/>
          <p:nvPr/>
        </p:nvSpPr>
        <p:spPr>
          <a:xfrm>
            <a:off x="2543605" y="2052522"/>
            <a:ext cx="3441319" cy="1420326"/>
          </a:xfrm>
          <a:custGeom>
            <a:avLst/>
            <a:gdLst/>
            <a:ahLst/>
            <a:cxnLst/>
            <a:rect l="l" t="t" r="r" b="b"/>
            <a:pathLst>
              <a:path w="3441319" h="1420326">
                <a:moveTo>
                  <a:pt x="0" y="0"/>
                </a:moveTo>
                <a:lnTo>
                  <a:pt x="3441319" y="0"/>
                </a:lnTo>
                <a:lnTo>
                  <a:pt x="3441319" y="1420326"/>
                </a:lnTo>
                <a:lnTo>
                  <a:pt x="0" y="142032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9223936" y="2052522"/>
            <a:ext cx="8035364" cy="5259197"/>
          </a:xfrm>
          <a:custGeom>
            <a:avLst/>
            <a:gdLst/>
            <a:ahLst/>
            <a:cxnLst/>
            <a:rect l="l" t="t" r="r" b="b"/>
            <a:pathLst>
              <a:path w="8035364" h="5259197">
                <a:moveTo>
                  <a:pt x="0" y="0"/>
                </a:moveTo>
                <a:lnTo>
                  <a:pt x="8035364" y="0"/>
                </a:lnTo>
                <a:lnTo>
                  <a:pt x="8035364" y="5259197"/>
                </a:lnTo>
                <a:lnTo>
                  <a:pt x="0" y="5259197"/>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1625244" y="923925"/>
            <a:ext cx="6763186" cy="969638"/>
          </a:xfrm>
          <a:prstGeom prst="rect">
            <a:avLst/>
          </a:prstGeom>
        </p:spPr>
        <p:txBody>
          <a:bodyPr lIns="0" tIns="0" rIns="0" bIns="0" rtlCol="0" anchor="t">
            <a:spAutoFit/>
          </a:bodyPr>
          <a:lstStyle/>
          <a:p>
            <a:pPr algn="l">
              <a:lnSpc>
                <a:spcPts val="7980"/>
              </a:lnSpc>
              <a:spcBef>
                <a:spcPct val="0"/>
              </a:spcBef>
            </a:pPr>
            <a:r>
              <a:rPr lang="en-US" sz="5700" b="1" spc="-114">
                <a:solidFill>
                  <a:srgbClr val="1836B2"/>
                </a:solidFill>
                <a:latin typeface="Muli Bold"/>
                <a:ea typeface="Muli Bold"/>
                <a:cs typeface="Muli Bold"/>
                <a:sym typeface="Muli Bold"/>
              </a:rPr>
              <a:t>3.Decision Tree</a:t>
            </a:r>
          </a:p>
        </p:txBody>
      </p:sp>
      <p:sp>
        <p:nvSpPr>
          <p:cNvPr id="8" name="TextBox 8"/>
          <p:cNvSpPr txBox="1"/>
          <p:nvPr/>
        </p:nvSpPr>
        <p:spPr>
          <a:xfrm>
            <a:off x="5842343" y="7831070"/>
            <a:ext cx="6763186" cy="969638"/>
          </a:xfrm>
          <a:prstGeom prst="rect">
            <a:avLst/>
          </a:prstGeom>
        </p:spPr>
        <p:txBody>
          <a:bodyPr wrap="square" lIns="0" tIns="0" rIns="0" bIns="0" rtlCol="0" anchor="t">
            <a:spAutoFit/>
          </a:bodyPr>
          <a:lstStyle/>
          <a:p>
            <a:pPr algn="ctr">
              <a:lnSpc>
                <a:spcPts val="7980"/>
              </a:lnSpc>
              <a:spcBef>
                <a:spcPct val="0"/>
              </a:spcBef>
            </a:pPr>
            <a:r>
              <a:rPr lang="en-US" sz="5700" b="1" spc="-114" dirty="0" err="1">
                <a:solidFill>
                  <a:srgbClr val="1836B2"/>
                </a:solidFill>
                <a:latin typeface="Muli Bold"/>
                <a:ea typeface="Muli Bold"/>
                <a:cs typeface="Muli Bold"/>
                <a:sym typeface="Muli Bold"/>
              </a:rPr>
              <a:t>Phân</a:t>
            </a:r>
            <a:r>
              <a:rPr lang="en-US" sz="5700" b="1" spc="-114" dirty="0">
                <a:solidFill>
                  <a:srgbClr val="1836B2"/>
                </a:solidFill>
                <a:latin typeface="Muli Bold"/>
                <a:ea typeface="Muli Bold"/>
                <a:cs typeface="Muli Bold"/>
                <a:sym typeface="Muli Bold"/>
              </a:rPr>
              <a:t> </a:t>
            </a:r>
            <a:r>
              <a:rPr lang="en-US" sz="5700" b="1" spc="-114" dirty="0" err="1">
                <a:solidFill>
                  <a:srgbClr val="1836B2"/>
                </a:solidFill>
                <a:latin typeface="Muli Bold"/>
                <a:ea typeface="Muli Bold"/>
                <a:cs typeface="Muli Bold"/>
                <a:sym typeface="Muli Bold"/>
              </a:rPr>
              <a:t>loại</a:t>
            </a:r>
            <a:r>
              <a:rPr lang="en-US" sz="5700" b="1" spc="-114" dirty="0">
                <a:solidFill>
                  <a:srgbClr val="1836B2"/>
                </a:solidFill>
                <a:latin typeface="Muli Bold"/>
                <a:ea typeface="Muli Bold"/>
                <a:cs typeface="Muli Bold"/>
                <a:sym typeface="Muli Bold"/>
              </a:rPr>
              <a:t>/</a:t>
            </a:r>
            <a:r>
              <a:rPr lang="en-US" sz="5700" b="1" spc="-114" dirty="0" err="1">
                <a:solidFill>
                  <a:srgbClr val="1836B2"/>
                </a:solidFill>
                <a:latin typeface="Muli Bold"/>
                <a:ea typeface="Muli Bold"/>
                <a:cs typeface="Muli Bold"/>
                <a:sym typeface="Muli Bold"/>
              </a:rPr>
              <a:t>hồi</a:t>
            </a:r>
            <a:r>
              <a:rPr lang="en-US" sz="5700" b="1" spc="-114" dirty="0">
                <a:solidFill>
                  <a:srgbClr val="1836B2"/>
                </a:solidFill>
                <a:latin typeface="Muli Bold"/>
                <a:ea typeface="Muli Bold"/>
                <a:cs typeface="Muli Bold"/>
                <a:sym typeface="Muli Bold"/>
              </a:rPr>
              <a:t> </a:t>
            </a:r>
            <a:r>
              <a:rPr lang="en-US" sz="5700" b="1" spc="-114" dirty="0" err="1">
                <a:solidFill>
                  <a:srgbClr val="1836B2"/>
                </a:solidFill>
                <a:latin typeface="Muli Bold"/>
                <a:ea typeface="Muli Bold"/>
                <a:cs typeface="Muli Bold"/>
                <a:sym typeface="Muli Bold"/>
              </a:rPr>
              <a:t>quy</a:t>
            </a:r>
            <a:endParaRPr lang="en-US" sz="5700" b="1" spc="-114" dirty="0">
              <a:solidFill>
                <a:srgbClr val="1836B2"/>
              </a:solidFill>
              <a:latin typeface="Muli Bold"/>
              <a:ea typeface="Muli Bold"/>
              <a:cs typeface="Muli Bold"/>
              <a:sym typeface="Muli Bo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0652" y="9515874"/>
            <a:ext cx="16926697" cy="1542251"/>
            <a:chOff x="0" y="0"/>
            <a:chExt cx="58960502" cy="5372100"/>
          </a:xfrm>
        </p:grpSpPr>
        <p:sp>
          <p:nvSpPr>
            <p:cNvPr id="3" name="Freeform 3"/>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txBody>
            <a:bodyPr/>
            <a:lstStyle/>
            <a:p>
              <a:endParaRPr lang="en-US"/>
            </a:p>
          </p:txBody>
        </p:sp>
      </p:grpSp>
      <p:sp>
        <p:nvSpPr>
          <p:cNvPr id="4" name="Freeform 4"/>
          <p:cNvSpPr/>
          <p:nvPr/>
        </p:nvSpPr>
        <p:spPr>
          <a:xfrm>
            <a:off x="2543605" y="2052522"/>
            <a:ext cx="3441319" cy="1420326"/>
          </a:xfrm>
          <a:custGeom>
            <a:avLst/>
            <a:gdLst/>
            <a:ahLst/>
            <a:cxnLst/>
            <a:rect l="l" t="t" r="r" b="b"/>
            <a:pathLst>
              <a:path w="3441319" h="1420326">
                <a:moveTo>
                  <a:pt x="0" y="0"/>
                </a:moveTo>
                <a:lnTo>
                  <a:pt x="3441319" y="0"/>
                </a:lnTo>
                <a:lnTo>
                  <a:pt x="3441319" y="1420326"/>
                </a:lnTo>
                <a:lnTo>
                  <a:pt x="0" y="14203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515460" y="2813794"/>
            <a:ext cx="17257081" cy="4659412"/>
          </a:xfrm>
          <a:custGeom>
            <a:avLst/>
            <a:gdLst/>
            <a:ahLst/>
            <a:cxnLst/>
            <a:rect l="l" t="t" r="r" b="b"/>
            <a:pathLst>
              <a:path w="17257081" h="4659412">
                <a:moveTo>
                  <a:pt x="0" y="0"/>
                </a:moveTo>
                <a:lnTo>
                  <a:pt x="17257080" y="0"/>
                </a:lnTo>
                <a:lnTo>
                  <a:pt x="17257080" y="4659412"/>
                </a:lnTo>
                <a:lnTo>
                  <a:pt x="0" y="4659412"/>
                </a:lnTo>
                <a:lnTo>
                  <a:pt x="0" y="0"/>
                </a:lnTo>
                <a:close/>
              </a:path>
            </a:pathLst>
          </a:custGeom>
          <a:blipFill>
            <a:blip r:embed="rId4"/>
            <a:stretch>
              <a:fillRect/>
            </a:stretch>
          </a:blipFill>
        </p:spPr>
        <p:txBody>
          <a:bodyPr/>
          <a:lstStyle/>
          <a:p>
            <a:endParaRPr lang="en-US"/>
          </a:p>
        </p:txBody>
      </p:sp>
      <p:sp>
        <p:nvSpPr>
          <p:cNvPr id="6" name="TextBox 6"/>
          <p:cNvSpPr txBox="1"/>
          <p:nvPr/>
        </p:nvSpPr>
        <p:spPr>
          <a:xfrm>
            <a:off x="1625244" y="923925"/>
            <a:ext cx="6763186" cy="969638"/>
          </a:xfrm>
          <a:prstGeom prst="rect">
            <a:avLst/>
          </a:prstGeom>
        </p:spPr>
        <p:txBody>
          <a:bodyPr lIns="0" tIns="0" rIns="0" bIns="0" rtlCol="0" anchor="t">
            <a:spAutoFit/>
          </a:bodyPr>
          <a:lstStyle/>
          <a:p>
            <a:pPr algn="l">
              <a:lnSpc>
                <a:spcPts val="7980"/>
              </a:lnSpc>
              <a:spcBef>
                <a:spcPct val="0"/>
              </a:spcBef>
            </a:pPr>
            <a:r>
              <a:rPr lang="en-US" sz="5700" b="1" spc="-114">
                <a:solidFill>
                  <a:srgbClr val="1836B2"/>
                </a:solidFill>
                <a:latin typeface="Muli Bold"/>
                <a:ea typeface="Muli Bold"/>
                <a:cs typeface="Muli Bold"/>
                <a:sym typeface="Muli Bold"/>
              </a:rPr>
              <a:t>4.Random Forest</a:t>
            </a:r>
          </a:p>
        </p:txBody>
      </p:sp>
      <p:sp>
        <p:nvSpPr>
          <p:cNvPr id="7" name="TextBox 7"/>
          <p:cNvSpPr txBox="1"/>
          <p:nvPr/>
        </p:nvSpPr>
        <p:spPr>
          <a:xfrm>
            <a:off x="6263217" y="7957334"/>
            <a:ext cx="5761567" cy="969638"/>
          </a:xfrm>
          <a:prstGeom prst="rect">
            <a:avLst/>
          </a:prstGeom>
        </p:spPr>
        <p:txBody>
          <a:bodyPr lIns="0" tIns="0" rIns="0" bIns="0" rtlCol="0" anchor="t">
            <a:spAutoFit/>
          </a:bodyPr>
          <a:lstStyle/>
          <a:p>
            <a:pPr algn="ctr">
              <a:lnSpc>
                <a:spcPts val="7980"/>
              </a:lnSpc>
              <a:spcBef>
                <a:spcPct val="0"/>
              </a:spcBef>
            </a:pPr>
            <a:r>
              <a:rPr lang="en-US" sz="5700" b="1" spc="-114">
                <a:solidFill>
                  <a:srgbClr val="1836B2"/>
                </a:solidFill>
                <a:latin typeface="Muli Bold"/>
                <a:ea typeface="Muli Bold"/>
                <a:cs typeface="Muli Bold"/>
                <a:sym typeface="Muli Bold"/>
              </a:rPr>
              <a:t>Phân loại/hồi quy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0652" y="9515874"/>
            <a:ext cx="16926697" cy="1542251"/>
            <a:chOff x="0" y="0"/>
            <a:chExt cx="58960502" cy="5372100"/>
          </a:xfrm>
        </p:grpSpPr>
        <p:sp>
          <p:nvSpPr>
            <p:cNvPr id="3" name="Freeform 3"/>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txBody>
            <a:bodyPr/>
            <a:lstStyle/>
            <a:p>
              <a:endParaRPr lang="en-US"/>
            </a:p>
          </p:txBody>
        </p:sp>
      </p:grpSp>
      <p:sp>
        <p:nvSpPr>
          <p:cNvPr id="4" name="Freeform 4"/>
          <p:cNvSpPr/>
          <p:nvPr/>
        </p:nvSpPr>
        <p:spPr>
          <a:xfrm>
            <a:off x="2543605" y="2052522"/>
            <a:ext cx="3441319" cy="1420326"/>
          </a:xfrm>
          <a:custGeom>
            <a:avLst/>
            <a:gdLst/>
            <a:ahLst/>
            <a:cxnLst/>
            <a:rect l="l" t="t" r="r" b="b"/>
            <a:pathLst>
              <a:path w="3441319" h="1420326">
                <a:moveTo>
                  <a:pt x="0" y="0"/>
                </a:moveTo>
                <a:lnTo>
                  <a:pt x="3441319" y="0"/>
                </a:lnTo>
                <a:lnTo>
                  <a:pt x="3441319" y="1420326"/>
                </a:lnTo>
                <a:lnTo>
                  <a:pt x="0" y="14203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49976" y="3126279"/>
            <a:ext cx="6999711" cy="4663557"/>
          </a:xfrm>
          <a:custGeom>
            <a:avLst/>
            <a:gdLst/>
            <a:ahLst/>
            <a:cxnLst/>
            <a:rect l="l" t="t" r="r" b="b"/>
            <a:pathLst>
              <a:path w="6999711" h="4663557">
                <a:moveTo>
                  <a:pt x="0" y="0"/>
                </a:moveTo>
                <a:lnTo>
                  <a:pt x="6999711" y="0"/>
                </a:lnTo>
                <a:lnTo>
                  <a:pt x="6999711" y="4663558"/>
                </a:lnTo>
                <a:lnTo>
                  <a:pt x="0" y="4663558"/>
                </a:lnTo>
                <a:lnTo>
                  <a:pt x="0" y="0"/>
                </a:lnTo>
                <a:close/>
              </a:path>
            </a:pathLst>
          </a:custGeom>
          <a:blipFill>
            <a:blip r:embed="rId4"/>
            <a:stretch>
              <a:fillRect/>
            </a:stretch>
          </a:blipFill>
        </p:spPr>
        <p:txBody>
          <a:bodyPr/>
          <a:lstStyle/>
          <a:p>
            <a:endParaRPr lang="en-US"/>
          </a:p>
        </p:txBody>
      </p:sp>
      <p:sp>
        <p:nvSpPr>
          <p:cNvPr id="6" name="Freeform 6"/>
          <p:cNvSpPr/>
          <p:nvPr/>
        </p:nvSpPr>
        <p:spPr>
          <a:xfrm>
            <a:off x="6544329" y="1893563"/>
            <a:ext cx="11301259" cy="6328705"/>
          </a:xfrm>
          <a:custGeom>
            <a:avLst/>
            <a:gdLst/>
            <a:ahLst/>
            <a:cxnLst/>
            <a:rect l="l" t="t" r="r" b="b"/>
            <a:pathLst>
              <a:path w="11301259" h="6328705">
                <a:moveTo>
                  <a:pt x="0" y="0"/>
                </a:moveTo>
                <a:lnTo>
                  <a:pt x="11301258" y="0"/>
                </a:lnTo>
                <a:lnTo>
                  <a:pt x="11301258" y="6328705"/>
                </a:lnTo>
                <a:lnTo>
                  <a:pt x="0" y="6328705"/>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1625244" y="923925"/>
            <a:ext cx="10900349" cy="969638"/>
          </a:xfrm>
          <a:prstGeom prst="rect">
            <a:avLst/>
          </a:prstGeom>
        </p:spPr>
        <p:txBody>
          <a:bodyPr lIns="0" tIns="0" rIns="0" bIns="0" rtlCol="0" anchor="t">
            <a:spAutoFit/>
          </a:bodyPr>
          <a:lstStyle/>
          <a:p>
            <a:pPr algn="l">
              <a:lnSpc>
                <a:spcPts val="7980"/>
              </a:lnSpc>
              <a:spcBef>
                <a:spcPct val="0"/>
              </a:spcBef>
            </a:pPr>
            <a:r>
              <a:rPr lang="en-US" sz="5700" b="1" spc="-114">
                <a:solidFill>
                  <a:srgbClr val="1836B2"/>
                </a:solidFill>
                <a:latin typeface="Muli Bold"/>
                <a:ea typeface="Muli Bold"/>
                <a:cs typeface="Muli Bold"/>
                <a:sym typeface="Muli Bold"/>
              </a:rPr>
              <a:t>4.Super vector machine(SVM)</a:t>
            </a:r>
          </a:p>
        </p:txBody>
      </p:sp>
      <p:sp>
        <p:nvSpPr>
          <p:cNvPr id="8" name="TextBox 8"/>
          <p:cNvSpPr txBox="1"/>
          <p:nvPr/>
        </p:nvSpPr>
        <p:spPr>
          <a:xfrm>
            <a:off x="7581040" y="8117493"/>
            <a:ext cx="3125920" cy="969638"/>
          </a:xfrm>
          <a:prstGeom prst="rect">
            <a:avLst/>
          </a:prstGeom>
        </p:spPr>
        <p:txBody>
          <a:bodyPr lIns="0" tIns="0" rIns="0" bIns="0" rtlCol="0" anchor="t">
            <a:spAutoFit/>
          </a:bodyPr>
          <a:lstStyle/>
          <a:p>
            <a:pPr algn="ctr">
              <a:lnSpc>
                <a:spcPts val="7980"/>
              </a:lnSpc>
              <a:spcBef>
                <a:spcPct val="0"/>
              </a:spcBef>
            </a:pPr>
            <a:r>
              <a:rPr lang="en-US" sz="5700" b="1" spc="-114">
                <a:solidFill>
                  <a:srgbClr val="1836B2"/>
                </a:solidFill>
                <a:latin typeface="Muli Bold"/>
                <a:ea typeface="Muli Bold"/>
                <a:cs typeface="Muli Bold"/>
                <a:sym typeface="Muli Bold"/>
              </a:rPr>
              <a:t>Phân loại</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0652" y="9515874"/>
            <a:ext cx="16926697" cy="1542251"/>
            <a:chOff x="0" y="0"/>
            <a:chExt cx="58960502" cy="5372100"/>
          </a:xfrm>
        </p:grpSpPr>
        <p:sp>
          <p:nvSpPr>
            <p:cNvPr id="3" name="Freeform 3"/>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txBody>
            <a:bodyPr/>
            <a:lstStyle/>
            <a:p>
              <a:endParaRPr lang="en-US"/>
            </a:p>
          </p:txBody>
        </p:sp>
      </p:grpSp>
      <p:sp>
        <p:nvSpPr>
          <p:cNvPr id="4" name="Freeform 4"/>
          <p:cNvSpPr/>
          <p:nvPr/>
        </p:nvSpPr>
        <p:spPr>
          <a:xfrm>
            <a:off x="2543605" y="2052522"/>
            <a:ext cx="3441319" cy="1420326"/>
          </a:xfrm>
          <a:custGeom>
            <a:avLst/>
            <a:gdLst/>
            <a:ahLst/>
            <a:cxnLst/>
            <a:rect l="l" t="t" r="r" b="b"/>
            <a:pathLst>
              <a:path w="3441319" h="1420326">
                <a:moveTo>
                  <a:pt x="0" y="0"/>
                </a:moveTo>
                <a:lnTo>
                  <a:pt x="3441319" y="0"/>
                </a:lnTo>
                <a:lnTo>
                  <a:pt x="3441319" y="1420326"/>
                </a:lnTo>
                <a:lnTo>
                  <a:pt x="0" y="14203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483859" y="2762685"/>
            <a:ext cx="5768067" cy="4974958"/>
          </a:xfrm>
          <a:custGeom>
            <a:avLst/>
            <a:gdLst/>
            <a:ahLst/>
            <a:cxnLst/>
            <a:rect l="l" t="t" r="r" b="b"/>
            <a:pathLst>
              <a:path w="5768067" h="4974958">
                <a:moveTo>
                  <a:pt x="0" y="0"/>
                </a:moveTo>
                <a:lnTo>
                  <a:pt x="5768067" y="0"/>
                </a:lnTo>
                <a:lnTo>
                  <a:pt x="5768067" y="4974958"/>
                </a:lnTo>
                <a:lnTo>
                  <a:pt x="0" y="4974958"/>
                </a:lnTo>
                <a:lnTo>
                  <a:pt x="0" y="0"/>
                </a:lnTo>
                <a:close/>
              </a:path>
            </a:pathLst>
          </a:custGeom>
          <a:blipFill>
            <a:blip r:embed="rId4"/>
            <a:stretch>
              <a:fillRect/>
            </a:stretch>
          </a:blipFill>
        </p:spPr>
        <p:txBody>
          <a:bodyPr/>
          <a:lstStyle/>
          <a:p>
            <a:endParaRPr lang="en-US"/>
          </a:p>
        </p:txBody>
      </p:sp>
      <p:sp>
        <p:nvSpPr>
          <p:cNvPr id="6" name="Freeform 6"/>
          <p:cNvSpPr/>
          <p:nvPr/>
        </p:nvSpPr>
        <p:spPr>
          <a:xfrm>
            <a:off x="8611425" y="1770029"/>
            <a:ext cx="8995923" cy="6746942"/>
          </a:xfrm>
          <a:custGeom>
            <a:avLst/>
            <a:gdLst/>
            <a:ahLst/>
            <a:cxnLst/>
            <a:rect l="l" t="t" r="r" b="b"/>
            <a:pathLst>
              <a:path w="8995923" h="6746942">
                <a:moveTo>
                  <a:pt x="0" y="0"/>
                </a:moveTo>
                <a:lnTo>
                  <a:pt x="8995923" y="0"/>
                </a:lnTo>
                <a:lnTo>
                  <a:pt x="8995923" y="6746942"/>
                </a:lnTo>
                <a:lnTo>
                  <a:pt x="0" y="6746942"/>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1625244" y="923925"/>
            <a:ext cx="10900349" cy="969638"/>
          </a:xfrm>
          <a:prstGeom prst="rect">
            <a:avLst/>
          </a:prstGeom>
        </p:spPr>
        <p:txBody>
          <a:bodyPr lIns="0" tIns="0" rIns="0" bIns="0" rtlCol="0" anchor="t">
            <a:spAutoFit/>
          </a:bodyPr>
          <a:lstStyle/>
          <a:p>
            <a:pPr algn="l">
              <a:lnSpc>
                <a:spcPts val="7980"/>
              </a:lnSpc>
              <a:spcBef>
                <a:spcPct val="0"/>
              </a:spcBef>
            </a:pPr>
            <a:r>
              <a:rPr lang="en-US" sz="5700" b="1" spc="-114">
                <a:solidFill>
                  <a:srgbClr val="1836B2"/>
                </a:solidFill>
                <a:latin typeface="Muli Bold"/>
                <a:ea typeface="Muli Bold"/>
                <a:cs typeface="Muli Bold"/>
                <a:sym typeface="Muli Bold"/>
              </a:rPr>
              <a:t>5.K-nearest neighbors</a:t>
            </a:r>
          </a:p>
        </p:txBody>
      </p:sp>
      <p:sp>
        <p:nvSpPr>
          <p:cNvPr id="8" name="TextBox 8"/>
          <p:cNvSpPr txBox="1"/>
          <p:nvPr/>
        </p:nvSpPr>
        <p:spPr>
          <a:xfrm>
            <a:off x="6151401" y="8089552"/>
            <a:ext cx="5761567" cy="969638"/>
          </a:xfrm>
          <a:prstGeom prst="rect">
            <a:avLst/>
          </a:prstGeom>
        </p:spPr>
        <p:txBody>
          <a:bodyPr lIns="0" tIns="0" rIns="0" bIns="0" rtlCol="0" anchor="t">
            <a:spAutoFit/>
          </a:bodyPr>
          <a:lstStyle/>
          <a:p>
            <a:pPr algn="ctr">
              <a:lnSpc>
                <a:spcPts val="7980"/>
              </a:lnSpc>
              <a:spcBef>
                <a:spcPct val="0"/>
              </a:spcBef>
            </a:pPr>
            <a:r>
              <a:rPr lang="en-US" sz="5700" b="1" spc="-114">
                <a:solidFill>
                  <a:srgbClr val="1836B2"/>
                </a:solidFill>
                <a:latin typeface="Muli Bold"/>
                <a:ea typeface="Muli Bold"/>
                <a:cs typeface="Muli Bold"/>
                <a:sym typeface="Muli Bold"/>
              </a:rPr>
              <a:t>Phân loại/hồi quy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0652" y="9515874"/>
            <a:ext cx="16926697" cy="1542251"/>
            <a:chOff x="0" y="0"/>
            <a:chExt cx="58960502" cy="5372100"/>
          </a:xfrm>
        </p:grpSpPr>
        <p:sp>
          <p:nvSpPr>
            <p:cNvPr id="3" name="Freeform 3"/>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txBody>
            <a:bodyPr/>
            <a:lstStyle/>
            <a:p>
              <a:endParaRPr lang="en-US"/>
            </a:p>
          </p:txBody>
        </p:sp>
      </p:grpSp>
      <p:sp>
        <p:nvSpPr>
          <p:cNvPr id="4" name="Freeform 4"/>
          <p:cNvSpPr/>
          <p:nvPr/>
        </p:nvSpPr>
        <p:spPr>
          <a:xfrm>
            <a:off x="2543605" y="2052522"/>
            <a:ext cx="3441319" cy="1420326"/>
          </a:xfrm>
          <a:custGeom>
            <a:avLst/>
            <a:gdLst/>
            <a:ahLst/>
            <a:cxnLst/>
            <a:rect l="l" t="t" r="r" b="b"/>
            <a:pathLst>
              <a:path w="3441319" h="1420326">
                <a:moveTo>
                  <a:pt x="0" y="0"/>
                </a:moveTo>
                <a:lnTo>
                  <a:pt x="3441319" y="0"/>
                </a:lnTo>
                <a:lnTo>
                  <a:pt x="3441319" y="1420326"/>
                </a:lnTo>
                <a:lnTo>
                  <a:pt x="0" y="14203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904938" y="2381795"/>
            <a:ext cx="7960894" cy="5970671"/>
          </a:xfrm>
          <a:custGeom>
            <a:avLst/>
            <a:gdLst/>
            <a:ahLst/>
            <a:cxnLst/>
            <a:rect l="l" t="t" r="r" b="b"/>
            <a:pathLst>
              <a:path w="7960894" h="5970671">
                <a:moveTo>
                  <a:pt x="0" y="0"/>
                </a:moveTo>
                <a:lnTo>
                  <a:pt x="7960894" y="0"/>
                </a:lnTo>
                <a:lnTo>
                  <a:pt x="7960894" y="5970671"/>
                </a:lnTo>
                <a:lnTo>
                  <a:pt x="0" y="5970671"/>
                </a:lnTo>
                <a:lnTo>
                  <a:pt x="0" y="0"/>
                </a:lnTo>
                <a:close/>
              </a:path>
            </a:pathLst>
          </a:custGeom>
          <a:blipFill>
            <a:blip r:embed="rId4"/>
            <a:stretch>
              <a:fillRect/>
            </a:stretch>
          </a:blipFill>
        </p:spPr>
        <p:txBody>
          <a:bodyPr/>
          <a:lstStyle/>
          <a:p>
            <a:endParaRPr lang="en-US"/>
          </a:p>
        </p:txBody>
      </p:sp>
      <p:sp>
        <p:nvSpPr>
          <p:cNvPr id="6" name="TextBox 6"/>
          <p:cNvSpPr txBox="1"/>
          <p:nvPr/>
        </p:nvSpPr>
        <p:spPr>
          <a:xfrm>
            <a:off x="1625244" y="923925"/>
            <a:ext cx="10900349" cy="969638"/>
          </a:xfrm>
          <a:prstGeom prst="rect">
            <a:avLst/>
          </a:prstGeom>
        </p:spPr>
        <p:txBody>
          <a:bodyPr lIns="0" tIns="0" rIns="0" bIns="0" rtlCol="0" anchor="t">
            <a:spAutoFit/>
          </a:bodyPr>
          <a:lstStyle/>
          <a:p>
            <a:pPr algn="l">
              <a:lnSpc>
                <a:spcPts val="7980"/>
              </a:lnSpc>
              <a:spcBef>
                <a:spcPct val="0"/>
              </a:spcBef>
            </a:pPr>
            <a:r>
              <a:rPr lang="en-US" sz="5700" b="1" spc="-114">
                <a:solidFill>
                  <a:srgbClr val="1836B2"/>
                </a:solidFill>
                <a:latin typeface="Muli Bold"/>
                <a:ea typeface="Muli Bold"/>
                <a:cs typeface="Muli Bold"/>
                <a:sym typeface="Muli Bold"/>
              </a:rPr>
              <a:t>6.K-means</a:t>
            </a:r>
          </a:p>
        </p:txBody>
      </p:sp>
      <p:sp>
        <p:nvSpPr>
          <p:cNvPr id="7" name="TextBox 7"/>
          <p:cNvSpPr txBox="1"/>
          <p:nvPr/>
        </p:nvSpPr>
        <p:spPr>
          <a:xfrm>
            <a:off x="11159694" y="4606293"/>
            <a:ext cx="3441319" cy="969638"/>
          </a:xfrm>
          <a:prstGeom prst="rect">
            <a:avLst/>
          </a:prstGeom>
        </p:spPr>
        <p:txBody>
          <a:bodyPr lIns="0" tIns="0" rIns="0" bIns="0" rtlCol="0" anchor="t">
            <a:spAutoFit/>
          </a:bodyPr>
          <a:lstStyle/>
          <a:p>
            <a:pPr algn="ctr">
              <a:lnSpc>
                <a:spcPts val="7980"/>
              </a:lnSpc>
              <a:spcBef>
                <a:spcPct val="0"/>
              </a:spcBef>
            </a:pPr>
            <a:r>
              <a:rPr lang="en-US" sz="5700" b="1" spc="-114">
                <a:solidFill>
                  <a:srgbClr val="1836B2"/>
                </a:solidFill>
                <a:latin typeface="Muli Bold"/>
                <a:ea typeface="Muli Bold"/>
                <a:cs typeface="Muli Bold"/>
                <a:sym typeface="Muli Bold"/>
              </a:rPr>
              <a:t>Phân cụm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0652" y="9515874"/>
            <a:ext cx="16926697" cy="1542251"/>
            <a:chOff x="0" y="0"/>
            <a:chExt cx="58960502" cy="5372100"/>
          </a:xfrm>
        </p:grpSpPr>
        <p:sp>
          <p:nvSpPr>
            <p:cNvPr id="3" name="Freeform 3"/>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txBody>
            <a:bodyPr/>
            <a:lstStyle/>
            <a:p>
              <a:endParaRPr lang="en-US"/>
            </a:p>
          </p:txBody>
        </p:sp>
      </p:grpSp>
      <p:sp>
        <p:nvSpPr>
          <p:cNvPr id="4" name="Freeform 4"/>
          <p:cNvSpPr/>
          <p:nvPr/>
        </p:nvSpPr>
        <p:spPr>
          <a:xfrm>
            <a:off x="2543605" y="2052522"/>
            <a:ext cx="3441319" cy="1420326"/>
          </a:xfrm>
          <a:custGeom>
            <a:avLst/>
            <a:gdLst/>
            <a:ahLst/>
            <a:cxnLst/>
            <a:rect l="l" t="t" r="r" b="b"/>
            <a:pathLst>
              <a:path w="3441319" h="1420326">
                <a:moveTo>
                  <a:pt x="0" y="0"/>
                </a:moveTo>
                <a:lnTo>
                  <a:pt x="3441319" y="0"/>
                </a:lnTo>
                <a:lnTo>
                  <a:pt x="3441319" y="1420326"/>
                </a:lnTo>
                <a:lnTo>
                  <a:pt x="0" y="14203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625244" y="2052522"/>
            <a:ext cx="6376048" cy="6212338"/>
          </a:xfrm>
          <a:custGeom>
            <a:avLst/>
            <a:gdLst/>
            <a:ahLst/>
            <a:cxnLst/>
            <a:rect l="l" t="t" r="r" b="b"/>
            <a:pathLst>
              <a:path w="6376048" h="6212338">
                <a:moveTo>
                  <a:pt x="0" y="0"/>
                </a:moveTo>
                <a:lnTo>
                  <a:pt x="6376048" y="0"/>
                </a:lnTo>
                <a:lnTo>
                  <a:pt x="6376048" y="6212338"/>
                </a:lnTo>
                <a:lnTo>
                  <a:pt x="0" y="6212338"/>
                </a:lnTo>
                <a:lnTo>
                  <a:pt x="0" y="0"/>
                </a:lnTo>
                <a:close/>
              </a:path>
            </a:pathLst>
          </a:custGeom>
          <a:blipFill>
            <a:blip r:embed="rId4"/>
            <a:stretch>
              <a:fillRect/>
            </a:stretch>
          </a:blipFill>
        </p:spPr>
        <p:txBody>
          <a:bodyPr/>
          <a:lstStyle/>
          <a:p>
            <a:endParaRPr lang="en-US"/>
          </a:p>
        </p:txBody>
      </p:sp>
      <p:sp>
        <p:nvSpPr>
          <p:cNvPr id="6" name="TextBox 6"/>
          <p:cNvSpPr txBox="1"/>
          <p:nvPr/>
        </p:nvSpPr>
        <p:spPr>
          <a:xfrm>
            <a:off x="1625244" y="923925"/>
            <a:ext cx="10900349" cy="969638"/>
          </a:xfrm>
          <a:prstGeom prst="rect">
            <a:avLst/>
          </a:prstGeom>
        </p:spPr>
        <p:txBody>
          <a:bodyPr lIns="0" tIns="0" rIns="0" bIns="0" rtlCol="0" anchor="t">
            <a:spAutoFit/>
          </a:bodyPr>
          <a:lstStyle/>
          <a:p>
            <a:pPr algn="l">
              <a:lnSpc>
                <a:spcPts val="7980"/>
              </a:lnSpc>
              <a:spcBef>
                <a:spcPct val="0"/>
              </a:spcBef>
            </a:pPr>
            <a:r>
              <a:rPr lang="en-US" sz="5700" b="1" spc="-114">
                <a:solidFill>
                  <a:srgbClr val="1836B2"/>
                </a:solidFill>
                <a:latin typeface="Muli Bold"/>
                <a:ea typeface="Muli Bold"/>
                <a:cs typeface="Muli Bold"/>
                <a:sym typeface="Muli Bold"/>
              </a:rPr>
              <a:t>7.DBSCAN</a:t>
            </a:r>
          </a:p>
        </p:txBody>
      </p:sp>
      <p:sp>
        <p:nvSpPr>
          <p:cNvPr id="7" name="TextBox 7"/>
          <p:cNvSpPr txBox="1"/>
          <p:nvPr/>
        </p:nvSpPr>
        <p:spPr>
          <a:xfrm>
            <a:off x="11423398" y="2935642"/>
            <a:ext cx="4320997" cy="969638"/>
          </a:xfrm>
          <a:prstGeom prst="rect">
            <a:avLst/>
          </a:prstGeom>
        </p:spPr>
        <p:txBody>
          <a:bodyPr wrap="square" lIns="0" tIns="0" rIns="0" bIns="0" rtlCol="0" anchor="t">
            <a:spAutoFit/>
          </a:bodyPr>
          <a:lstStyle/>
          <a:p>
            <a:pPr algn="ctr">
              <a:lnSpc>
                <a:spcPts val="7980"/>
              </a:lnSpc>
              <a:spcBef>
                <a:spcPct val="0"/>
              </a:spcBef>
            </a:pPr>
            <a:r>
              <a:rPr lang="en-US" sz="5700" b="1" spc="-114" dirty="0" err="1">
                <a:solidFill>
                  <a:srgbClr val="1836B2"/>
                </a:solidFill>
                <a:latin typeface="Muli Bold"/>
                <a:ea typeface="Muli Bold"/>
                <a:cs typeface="Muli Bold"/>
                <a:sym typeface="Muli Bold"/>
              </a:rPr>
              <a:t>Phân</a:t>
            </a:r>
            <a:r>
              <a:rPr lang="en-US" sz="5700" b="1" spc="-114" dirty="0">
                <a:solidFill>
                  <a:srgbClr val="1836B2"/>
                </a:solidFill>
                <a:latin typeface="Muli Bold"/>
                <a:ea typeface="Muli Bold"/>
                <a:cs typeface="Muli Bold"/>
                <a:sym typeface="Muli Bold"/>
              </a:rPr>
              <a:t> </a:t>
            </a:r>
            <a:r>
              <a:rPr lang="en-US" sz="5700" b="1" spc="-114" dirty="0" err="1">
                <a:solidFill>
                  <a:srgbClr val="1836B2"/>
                </a:solidFill>
                <a:latin typeface="Muli Bold"/>
                <a:ea typeface="Muli Bold"/>
                <a:cs typeface="Muli Bold"/>
                <a:sym typeface="Muli Bold"/>
              </a:rPr>
              <a:t>cụm</a:t>
            </a:r>
            <a:endParaRPr lang="en-US" sz="5700" b="1" spc="-114" dirty="0">
              <a:solidFill>
                <a:srgbClr val="1836B2"/>
              </a:solidFill>
              <a:latin typeface="Muli Bold"/>
              <a:ea typeface="Muli Bold"/>
              <a:cs typeface="Muli Bold"/>
              <a:sym typeface="Muli Bo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836B2"/>
        </a:solidFill>
        <a:effectLst/>
      </p:bgPr>
    </p:bg>
    <p:spTree>
      <p:nvGrpSpPr>
        <p:cNvPr id="1" name=""/>
        <p:cNvGrpSpPr/>
        <p:nvPr/>
      </p:nvGrpSpPr>
      <p:grpSpPr>
        <a:xfrm>
          <a:off x="0" y="0"/>
          <a:ext cx="0" cy="0"/>
          <a:chOff x="0" y="0"/>
          <a:chExt cx="0" cy="0"/>
        </a:xfrm>
      </p:grpSpPr>
      <p:grpSp>
        <p:nvGrpSpPr>
          <p:cNvPr id="2" name="Group 2"/>
          <p:cNvGrpSpPr/>
          <p:nvPr/>
        </p:nvGrpSpPr>
        <p:grpSpPr>
          <a:xfrm>
            <a:off x="11359306" y="1028700"/>
            <a:ext cx="9737102" cy="9547574"/>
            <a:chOff x="0" y="0"/>
            <a:chExt cx="12982803" cy="12730098"/>
          </a:xfrm>
        </p:grpSpPr>
        <p:sp>
          <p:nvSpPr>
            <p:cNvPr id="3" name="Freeform 3"/>
            <p:cNvSpPr/>
            <p:nvPr/>
          </p:nvSpPr>
          <p:spPr>
            <a:xfrm>
              <a:off x="0" y="6357796"/>
              <a:ext cx="11160540" cy="6372302"/>
            </a:xfrm>
            <a:custGeom>
              <a:avLst/>
              <a:gdLst/>
              <a:ahLst/>
              <a:cxnLst/>
              <a:rect l="l" t="t" r="r" b="b"/>
              <a:pathLst>
                <a:path w="11160540" h="6372302">
                  <a:moveTo>
                    <a:pt x="0" y="0"/>
                  </a:moveTo>
                  <a:lnTo>
                    <a:pt x="11160540" y="0"/>
                  </a:lnTo>
                  <a:lnTo>
                    <a:pt x="11160540" y="6372302"/>
                  </a:lnTo>
                  <a:lnTo>
                    <a:pt x="0" y="6372302"/>
                  </a:lnTo>
                  <a:lnTo>
                    <a:pt x="0" y="0"/>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en-US"/>
            </a:p>
          </p:txBody>
        </p:sp>
        <p:sp>
          <p:nvSpPr>
            <p:cNvPr id="4" name="Freeform 4"/>
            <p:cNvSpPr/>
            <p:nvPr/>
          </p:nvSpPr>
          <p:spPr>
            <a:xfrm>
              <a:off x="1822263" y="0"/>
              <a:ext cx="11160540" cy="6372302"/>
            </a:xfrm>
            <a:custGeom>
              <a:avLst/>
              <a:gdLst/>
              <a:ahLst/>
              <a:cxnLst/>
              <a:rect l="l" t="t" r="r" b="b"/>
              <a:pathLst>
                <a:path w="11160540" h="6372302">
                  <a:moveTo>
                    <a:pt x="0" y="0"/>
                  </a:moveTo>
                  <a:lnTo>
                    <a:pt x="11160540" y="0"/>
                  </a:lnTo>
                  <a:lnTo>
                    <a:pt x="11160540" y="6372302"/>
                  </a:lnTo>
                  <a:lnTo>
                    <a:pt x="0" y="6372302"/>
                  </a:lnTo>
                  <a:lnTo>
                    <a:pt x="0" y="0"/>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en-US"/>
            </a:p>
          </p:txBody>
        </p:sp>
      </p:grpSp>
      <p:sp>
        <p:nvSpPr>
          <p:cNvPr id="5" name="TextBox 5"/>
          <p:cNvSpPr txBox="1"/>
          <p:nvPr/>
        </p:nvSpPr>
        <p:spPr>
          <a:xfrm>
            <a:off x="1295786" y="3260053"/>
            <a:ext cx="7242768" cy="2910840"/>
          </a:xfrm>
          <a:prstGeom prst="rect">
            <a:avLst/>
          </a:prstGeom>
        </p:spPr>
        <p:txBody>
          <a:bodyPr lIns="0" tIns="0" rIns="0" bIns="0" rtlCol="0" anchor="t">
            <a:spAutoFit/>
          </a:bodyPr>
          <a:lstStyle/>
          <a:p>
            <a:pPr algn="l">
              <a:lnSpc>
                <a:spcPts val="11760"/>
              </a:lnSpc>
            </a:pPr>
            <a:r>
              <a:rPr lang="en-US" sz="8400" b="1">
                <a:solidFill>
                  <a:srgbClr val="FFFFFF"/>
                </a:solidFill>
                <a:latin typeface="Muli Ultra-Bold"/>
                <a:ea typeface="Muli Ultra-Bold"/>
                <a:cs typeface="Muli Ultra-Bold"/>
                <a:sym typeface="Muli Ultra-Bold"/>
              </a:rPr>
              <a:t>Thanks for listening</a:t>
            </a:r>
          </a:p>
        </p:txBody>
      </p:sp>
      <p:sp>
        <p:nvSpPr>
          <p:cNvPr id="6" name="AutoShape 6"/>
          <p:cNvSpPr/>
          <p:nvPr/>
        </p:nvSpPr>
        <p:spPr>
          <a:xfrm>
            <a:off x="1295786" y="6666075"/>
            <a:ext cx="7242768" cy="0"/>
          </a:xfrm>
          <a:prstGeom prst="line">
            <a:avLst/>
          </a:prstGeom>
          <a:ln w="28575" cap="rnd">
            <a:solidFill>
              <a:srgbClr val="86C7ED"/>
            </a:solidFill>
            <a:prstDash val="solid"/>
            <a:headEnd type="none" w="sm" len="sm"/>
            <a:tailEnd type="none" w="sm" len="sm"/>
          </a:ln>
        </p:spPr>
        <p:txBody>
          <a:bodyPr/>
          <a:lstStyle/>
          <a:p>
            <a:endParaRPr lang="en-US"/>
          </a:p>
        </p:txBody>
      </p:sp>
      <p:sp>
        <p:nvSpPr>
          <p:cNvPr id="7" name="Freeform 7"/>
          <p:cNvSpPr/>
          <p:nvPr/>
        </p:nvSpPr>
        <p:spPr>
          <a:xfrm>
            <a:off x="1295786" y="1258908"/>
            <a:ext cx="1098500" cy="627207"/>
          </a:xfrm>
          <a:custGeom>
            <a:avLst/>
            <a:gdLst/>
            <a:ahLst/>
            <a:cxnLst/>
            <a:rect l="l" t="t" r="r" b="b"/>
            <a:pathLst>
              <a:path w="1098500" h="627207">
                <a:moveTo>
                  <a:pt x="0" y="0"/>
                </a:moveTo>
                <a:lnTo>
                  <a:pt x="1098500" y="0"/>
                </a:lnTo>
                <a:lnTo>
                  <a:pt x="1098500" y="627207"/>
                </a:lnTo>
                <a:lnTo>
                  <a:pt x="0" y="627207"/>
                </a:lnTo>
                <a:lnTo>
                  <a:pt x="0" y="0"/>
                </a:lnTo>
                <a:close/>
              </a:path>
            </a:pathLst>
          </a:custGeom>
          <a:blipFill>
            <a:blip r:embed="rId4">
              <a:extLst>
                <a:ext uri="{96DAC541-7B7A-43D3-8B79-37D633B846F1}">
                  <asvg:svgBlip xmlns:asvg="http://schemas.microsoft.com/office/drawing/2016/SVG/main" r:embed="rId5"/>
                </a:ext>
              </a:extLst>
            </a:blip>
            <a:stretch>
              <a:fillRect t="-51576"/>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446</Words>
  <Application>Microsoft Office PowerPoint</Application>
  <PresentationFormat>Custom</PresentationFormat>
  <Paragraphs>93</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Muli Ultra-Bold</vt:lpstr>
      <vt:lpstr>Calibri</vt:lpstr>
      <vt:lpstr>Muli Bold</vt:lpstr>
      <vt:lpstr>Arial</vt:lpstr>
      <vt:lpstr>Muli Semi-Bold</vt:lpstr>
      <vt:lpstr>Muli Light</vt:lpstr>
      <vt:lpstr>Muli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Bản thuyết trình trình bày ý tưởng Phát triển ứng dụng Khởi nghiệp, Tông màu Xanh dương và Tím, Phong cách Doanh nghiệp</dc:title>
  <cp:lastModifiedBy>Dinh Tuan Minh D25CC01</cp:lastModifiedBy>
  <cp:revision>2</cp:revision>
  <dcterms:created xsi:type="dcterms:W3CDTF">2006-08-16T00:00:00Z</dcterms:created>
  <dcterms:modified xsi:type="dcterms:W3CDTF">2025-12-06T06:43:12Z</dcterms:modified>
  <dc:identifier>DAG6auKIQmo</dc:identifier>
</cp:coreProperties>
</file>